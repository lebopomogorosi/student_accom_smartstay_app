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type="screen16x9" cy="5143500" cx="9144000"/>
  <p:notesSz cx="5143500" cy="9144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tableStyles" Target="tableStyle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5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5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4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4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7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7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0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3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4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9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9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2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2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8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48743" name="Text 0"/>
          <p:cNvSpPr/>
          <p:nvPr/>
        </p:nvSpPr>
        <p:spPr>
          <a:xfrm>
            <a:off x="857250" y="1151818"/>
            <a:ext cx="5243513" cy="6096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4150" lang="en-US">
                <a:solidFill>
                  <a:srgbClr val="1A237E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StudAcomo</a:t>
            </a:r>
            <a:endParaRPr dirty="0" sz="4150" lang="en-US"/>
          </a:p>
        </p:txBody>
      </p:sp>
      <p:sp>
        <p:nvSpPr>
          <p:cNvPr id="1048744" name="Text 1"/>
          <p:cNvSpPr/>
          <p:nvPr/>
        </p:nvSpPr>
        <p:spPr>
          <a:xfrm>
            <a:off x="857250" y="2061781"/>
            <a:ext cx="5243513" cy="2667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1800" lang="en-US">
                <a:solidFill>
                  <a:srgbClr val="2E7D3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Smart Student Accommodation Finder</a:t>
            </a:r>
            <a:endParaRPr dirty="0" sz="1800" lang="en-US"/>
          </a:p>
        </p:txBody>
      </p:sp>
      <p:sp>
        <p:nvSpPr>
          <p:cNvPr id="1048745" name="Text 2"/>
          <p:cNvSpPr/>
          <p:nvPr/>
        </p:nvSpPr>
        <p:spPr>
          <a:xfrm>
            <a:off x="1107281" y="2802945"/>
            <a:ext cx="4993481" cy="177801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1200" lang="en-US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 Name:</a:t>
            </a:r>
            <a:r>
              <a:rPr dirty="0" sz="12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Lebopo</a:t>
            </a:r>
            <a:endParaRPr dirty="0" sz="1200" lang="en-US"/>
          </a:p>
        </p:txBody>
      </p:sp>
      <p:sp>
        <p:nvSpPr>
          <p:cNvPr id="1048746" name="Text 3"/>
          <p:cNvSpPr/>
          <p:nvPr/>
        </p:nvSpPr>
        <p:spPr>
          <a:xfrm>
            <a:off x="1107281" y="3117270"/>
            <a:ext cx="4993481" cy="177801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1200" lang="en-US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Programme:</a:t>
            </a:r>
            <a:r>
              <a:rPr dirty="0" sz="12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BSc Computer Systems Engineering</a:t>
            </a:r>
            <a:endParaRPr dirty="0" sz="1200" lang="en-US"/>
          </a:p>
        </p:txBody>
      </p:sp>
      <p:sp>
        <p:nvSpPr>
          <p:cNvPr id="1048747" name="Text 4"/>
          <p:cNvSpPr/>
          <p:nvPr/>
        </p:nvSpPr>
        <p:spPr>
          <a:xfrm>
            <a:off x="1107281" y="3431595"/>
            <a:ext cx="4993481" cy="177801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1200" lang="en-US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Module:</a:t>
            </a:r>
            <a:r>
              <a:rPr dirty="0" sz="12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CSE201 – Mobile Application Development</a:t>
            </a:r>
            <a:endParaRPr dirty="0" sz="1200" lang="en-US"/>
          </a:p>
        </p:txBody>
      </p:sp>
      <p:sp>
        <p:nvSpPr>
          <p:cNvPr id="1048748" name="Text 5"/>
          <p:cNvSpPr/>
          <p:nvPr/>
        </p:nvSpPr>
        <p:spPr>
          <a:xfrm>
            <a:off x="1107281" y="3745920"/>
            <a:ext cx="4993481" cy="177801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1200" lang="en-US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Institution:</a:t>
            </a:r>
            <a:r>
              <a:rPr dirty="0" sz="12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Botswana Accountancy College</a:t>
            </a:r>
            <a:endParaRPr dirty="0" sz="1200" lang="en-US"/>
          </a:p>
        </p:txBody>
      </p:sp>
      <p:sp>
        <p:nvSpPr>
          <p:cNvPr id="1048749" name="Text 6"/>
          <p:cNvSpPr/>
          <p:nvPr/>
        </p:nvSpPr>
        <p:spPr>
          <a:xfrm>
            <a:off x="1107281" y="4060245"/>
            <a:ext cx="4993481" cy="1066800"/>
          </a:xfrm>
          <a:prstGeom prst="rect"/>
          <a:solidFill>
            <a:srgbClr val="FFFFFF"/>
          </a:solidFill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1200" lang="en-US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Academic Year:</a:t>
            </a:r>
            <a:r>
              <a:rPr dirty="0" sz="12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Jan – Jun 2026</a:t>
            </a:r>
            <a:endParaRPr dirty="0" sz="1200" lang="en-US"/>
          </a:p>
          <a:p>
            <a:pPr algn="l" indent="0" marL="0">
              <a:buNone/>
            </a:pPr>
            <a:endParaRPr dirty="0" sz="1200" lang="en-US"/>
          </a:p>
          <a:p>
            <a:pPr algn="l" indent="0" marL="0">
              <a:buNone/>
            </a:pPr>
            <a:r>
              <a:rPr b="1" dirty="0" sz="1250" lang="en-US">
                <a:solidFill>
                  <a:srgbClr val="000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r>
              <a:rPr b="1" dirty="0" sz="1250" lang="en-US">
                <a:solidFill>
                  <a:srgbClr val="000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r>
              <a:rPr b="1" dirty="0" sz="1250" lang="en-US">
                <a:solidFill>
                  <a:srgbClr val="000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</a:t>
            </a:r>
            <a:r>
              <a:rPr b="1" dirty="0" sz="1250" lang="en-US">
                <a:solidFill>
                  <a:srgbClr val="000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</a:t>
            </a:r>
            <a:r>
              <a:rPr b="1" dirty="0" sz="1250" lang="en-US">
                <a:solidFill>
                  <a:srgbClr val="000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r>
              <a:rPr b="1" dirty="0" sz="1250" lang="en-US">
                <a:solidFill>
                  <a:srgbClr val="000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r>
              <a:rPr b="1" dirty="0" sz="1250" lang="en-US">
                <a:solidFill>
                  <a:srgbClr val="000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</a:t>
            </a:r>
            <a:r>
              <a:rPr b="1" dirty="0" sz="1250" lang="en-US">
                <a:solidFill>
                  <a:srgbClr val="000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ory</a:t>
            </a:r>
            <a:r>
              <a:rPr b="1" dirty="0" sz="1250" lang="en-US">
                <a:solidFill>
                  <a:srgbClr val="000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r>
              <a:rPr b="1" dirty="0" sz="1250" lang="en-US">
                <a:solidFill>
                  <a:srgbClr val="000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dirty="0" sz="12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https://github.com/LebopoMogorosi/Student_Accom_SmartStay_APP.git</a:t>
            </a:r>
            <a:endParaRPr dirty="0" sz="1200" lang="en-US"/>
          </a:p>
          <a:p>
            <a:pPr algn="l" indent="0" marL="0">
              <a:buNone/>
            </a:pPr>
            <a:endParaRPr dirty="0" sz="1200" lang="en-US"/>
          </a:p>
          <a:p>
            <a:pPr algn="l" indent="0" marL="0">
              <a:buNone/>
            </a:pPr>
            <a:endParaRPr dirty="0" sz="12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4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48724" name="Shape 0"/>
          <p:cNvSpPr/>
          <p:nvPr/>
        </p:nvSpPr>
        <p:spPr>
          <a:xfrm>
            <a:off x="0" y="0"/>
            <a:ext cx="9144000" cy="917972"/>
          </a:xfrm>
          <a:prstGeom prst="rect"/>
          <a:solidFill>
            <a:srgbClr val="1A237E"/>
          </a:solidFill>
        </p:spPr>
      </p:sp>
      <p:sp>
        <p:nvSpPr>
          <p:cNvPr id="1048725" name="Text 1"/>
          <p:cNvSpPr/>
          <p:nvPr/>
        </p:nvSpPr>
        <p:spPr>
          <a:xfrm>
            <a:off x="571500" y="285750"/>
            <a:ext cx="8572500" cy="3556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2450" lang="en-US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Challenges in Student Accommodation</a:t>
            </a:r>
            <a:endParaRPr dirty="0" sz="2450" lang="en-US"/>
          </a:p>
        </p:txBody>
      </p:sp>
      <p:sp>
        <p:nvSpPr>
          <p:cNvPr id="1048726" name="Text 2"/>
          <p:cNvSpPr/>
          <p:nvPr/>
        </p:nvSpPr>
        <p:spPr>
          <a:xfrm>
            <a:off x="571500" y="1536325"/>
            <a:ext cx="2355652" cy="2413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1600" lang="en-US">
                <a:solidFill>
                  <a:srgbClr val="2E7D3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Problem Statement</a:t>
            </a:r>
            <a:endParaRPr dirty="0" sz="1600" lang="en-US"/>
          </a:p>
        </p:txBody>
      </p:sp>
      <p:pic>
        <p:nvPicPr>
          <p:cNvPr id="2097185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571500" y="2093537"/>
            <a:ext cx="200025" cy="200025"/>
          </a:xfrm>
          <a:prstGeom prst="rect"/>
        </p:spPr>
      </p:pic>
      <p:sp>
        <p:nvSpPr>
          <p:cNvPr id="1048727" name="Text 3"/>
          <p:cNvSpPr/>
          <p:nvPr/>
        </p:nvSpPr>
        <p:spPr>
          <a:xfrm>
            <a:off x="914400" y="2057819"/>
            <a:ext cx="3371850" cy="4064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lnSpc>
                <a:spcPct val="120000"/>
              </a:lnSpc>
              <a:buNone/>
            </a:pPr>
            <a:r>
              <a:rPr dirty="0" sz="11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in Gaborone struggle to find affordable, safe, and proximal housing.</a:t>
            </a:r>
            <a:endParaRPr dirty="0" sz="1150" lang="en-US"/>
          </a:p>
        </p:txBody>
      </p:sp>
      <p:pic>
        <p:nvPicPr>
          <p:cNvPr id="2097186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571500" y="2779337"/>
            <a:ext cx="200025" cy="200025"/>
          </a:xfrm>
          <a:prstGeom prst="rect"/>
        </p:spPr>
      </p:pic>
      <p:sp>
        <p:nvSpPr>
          <p:cNvPr id="1048728" name="Text 4"/>
          <p:cNvSpPr/>
          <p:nvPr/>
        </p:nvSpPr>
        <p:spPr>
          <a:xfrm>
            <a:off x="914400" y="2743619"/>
            <a:ext cx="3371850" cy="4064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lnSpc>
                <a:spcPct val="120000"/>
              </a:lnSpc>
              <a:buNone/>
            </a:pPr>
            <a:r>
              <a:rPr dirty="0" sz="11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search methods are slow, unreliable, and prone to scams.</a:t>
            </a:r>
            <a:endParaRPr dirty="0" sz="1150" lang="en-US"/>
          </a:p>
        </p:txBody>
      </p:sp>
      <p:pic>
        <p:nvPicPr>
          <p:cNvPr id="2097187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571500" y="3465137"/>
            <a:ext cx="200025" cy="200025"/>
          </a:xfrm>
          <a:prstGeom prst="rect"/>
        </p:spPr>
      </p:pic>
      <p:sp>
        <p:nvSpPr>
          <p:cNvPr id="1048729" name="Text 5"/>
          <p:cNvSpPr/>
          <p:nvPr/>
        </p:nvSpPr>
        <p:spPr>
          <a:xfrm>
            <a:off x="914400" y="3429419"/>
            <a:ext cx="3371850" cy="406401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lnSpc>
                <a:spcPct val="120000"/>
              </a:lnSpc>
              <a:buNone/>
            </a:pPr>
            <a:r>
              <a:rPr dirty="0" sz="11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demand leads to difficulty in managing available room listings within budget.</a:t>
            </a:r>
            <a:endParaRPr dirty="0" sz="1150" lang="en-US"/>
          </a:p>
        </p:txBody>
      </p:sp>
      <p:sp>
        <p:nvSpPr>
          <p:cNvPr id="1048730" name="Text 6"/>
          <p:cNvSpPr/>
          <p:nvPr/>
        </p:nvSpPr>
        <p:spPr>
          <a:xfrm>
            <a:off x="4857750" y="1536325"/>
            <a:ext cx="622301" cy="241300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buNone/>
            </a:pPr>
            <a:r>
              <a:rPr b="1" dirty="0" sz="1600" lang="en-US">
                <a:solidFill>
                  <a:srgbClr val="2E7D3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Impact</a:t>
            </a:r>
            <a:endParaRPr dirty="0" sz="1600" lang="en-US"/>
          </a:p>
        </p:txBody>
      </p:sp>
      <p:sp>
        <p:nvSpPr>
          <p:cNvPr id="1048731" name="Text 7"/>
          <p:cNvSpPr/>
          <p:nvPr/>
        </p:nvSpPr>
        <p:spPr>
          <a:xfrm>
            <a:off x="5029200" y="2057819"/>
            <a:ext cx="3543300" cy="139701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1000" lang="en-US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Inefficiency</a:t>
            </a:r>
            <a:endParaRPr dirty="0" sz="1000" lang="en-US"/>
          </a:p>
        </p:txBody>
      </p:sp>
      <p:sp>
        <p:nvSpPr>
          <p:cNvPr id="1048732" name="Text 8"/>
          <p:cNvSpPr/>
          <p:nvPr/>
        </p:nvSpPr>
        <p:spPr>
          <a:xfrm>
            <a:off x="5029200" y="2266773"/>
            <a:ext cx="3446859" cy="139701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dirty="0" sz="10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Countless hours spent visiting properties that don't</a:t>
            </a:r>
            <a:endParaRPr dirty="0" sz="1050" lang="en-US"/>
          </a:p>
        </p:txBody>
      </p:sp>
      <p:sp>
        <p:nvSpPr>
          <p:cNvPr id="1048733" name="Text 9"/>
          <p:cNvSpPr/>
          <p:nvPr/>
        </p:nvSpPr>
        <p:spPr>
          <a:xfrm>
            <a:off x="5029200" y="2440009"/>
            <a:ext cx="1003300" cy="165101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buNone/>
            </a:pPr>
            <a:r>
              <a:rPr dirty="0" sz="10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 basic needs.</a:t>
            </a:r>
            <a:endParaRPr dirty="0" sz="1050" lang="en-US"/>
          </a:p>
        </p:txBody>
      </p:sp>
      <p:sp>
        <p:nvSpPr>
          <p:cNvPr id="1048734" name="Text 10"/>
          <p:cNvSpPr/>
          <p:nvPr/>
        </p:nvSpPr>
        <p:spPr>
          <a:xfrm>
            <a:off x="5029200" y="2791839"/>
            <a:ext cx="3543300" cy="139701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1000" lang="en-US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Financial Risk</a:t>
            </a:r>
            <a:endParaRPr dirty="0" sz="1000" lang="en-US"/>
          </a:p>
        </p:txBody>
      </p:sp>
      <p:sp>
        <p:nvSpPr>
          <p:cNvPr id="1048735" name="Text 11"/>
          <p:cNvSpPr/>
          <p:nvPr/>
        </p:nvSpPr>
        <p:spPr>
          <a:xfrm>
            <a:off x="5029200" y="3000794"/>
            <a:ext cx="3228975" cy="139701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dirty="0" sz="10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susceptibility to fraudulent "landlords" and</a:t>
            </a:r>
            <a:endParaRPr dirty="0" sz="1050" lang="en-US"/>
          </a:p>
        </p:txBody>
      </p:sp>
      <p:sp>
        <p:nvSpPr>
          <p:cNvPr id="1048736" name="Text 12"/>
          <p:cNvSpPr/>
          <p:nvPr/>
        </p:nvSpPr>
        <p:spPr>
          <a:xfrm>
            <a:off x="5029200" y="3174030"/>
            <a:ext cx="850901" cy="165101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buNone/>
            </a:pPr>
            <a:r>
              <a:rPr dirty="0" sz="10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deposit scams.</a:t>
            </a:r>
            <a:endParaRPr dirty="0" sz="1050" lang="en-US"/>
          </a:p>
        </p:txBody>
      </p:sp>
      <p:sp>
        <p:nvSpPr>
          <p:cNvPr id="1048737" name="Text 13"/>
          <p:cNvSpPr/>
          <p:nvPr/>
        </p:nvSpPr>
        <p:spPr>
          <a:xfrm>
            <a:off x="5029200" y="3525859"/>
            <a:ext cx="3543300" cy="1397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1000" lang="en-US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Academic Stress</a:t>
            </a:r>
            <a:endParaRPr dirty="0" sz="1000" lang="en-US"/>
          </a:p>
        </p:txBody>
      </p:sp>
      <p:sp>
        <p:nvSpPr>
          <p:cNvPr id="1048738" name="Text 14"/>
          <p:cNvSpPr/>
          <p:nvPr/>
        </p:nvSpPr>
        <p:spPr>
          <a:xfrm>
            <a:off x="5029200" y="3734814"/>
            <a:ext cx="3505795" cy="139701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dirty="0" sz="10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Housing instability negatively impacts student focus</a:t>
            </a:r>
            <a:endParaRPr dirty="0" sz="1050" lang="en-US"/>
          </a:p>
        </p:txBody>
      </p:sp>
      <p:sp>
        <p:nvSpPr>
          <p:cNvPr id="1048739" name="Text 15"/>
          <p:cNvSpPr/>
          <p:nvPr/>
        </p:nvSpPr>
        <p:spPr>
          <a:xfrm>
            <a:off x="5029200" y="3908050"/>
            <a:ext cx="1003300" cy="165100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buNone/>
            </a:pPr>
            <a:r>
              <a:rPr dirty="0" sz="10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performance.</a:t>
            </a:r>
            <a:endParaRPr dirty="0" sz="105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3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48696" name="Shape 0"/>
          <p:cNvSpPr/>
          <p:nvPr/>
        </p:nvSpPr>
        <p:spPr>
          <a:xfrm>
            <a:off x="0" y="0"/>
            <a:ext cx="9144000" cy="917972"/>
          </a:xfrm>
          <a:prstGeom prst="rect"/>
          <a:solidFill>
            <a:srgbClr val="1A237E"/>
          </a:solidFill>
        </p:spPr>
      </p:sp>
      <p:sp>
        <p:nvSpPr>
          <p:cNvPr id="1048697" name="Text 1"/>
          <p:cNvSpPr/>
          <p:nvPr/>
        </p:nvSpPr>
        <p:spPr>
          <a:xfrm>
            <a:off x="571500" y="285750"/>
            <a:ext cx="8572500" cy="3556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2450" lang="en-US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The StudAcomo Solution</a:t>
            </a:r>
            <a:endParaRPr dirty="0" sz="2450" lang="en-US"/>
          </a:p>
        </p:txBody>
      </p:sp>
      <p:sp>
        <p:nvSpPr>
          <p:cNvPr id="1048698" name="Shape 2"/>
          <p:cNvSpPr/>
          <p:nvPr/>
        </p:nvSpPr>
        <p:spPr>
          <a:xfrm>
            <a:off x="571500" y="1346597"/>
            <a:ext cx="500063" cy="500063"/>
          </a:xfrm>
          <a:prstGeom prst="rect"/>
          <a:solidFill>
            <a:srgbClr val="2E7D32"/>
          </a:solidFill>
        </p:spPr>
      </p:sp>
      <p:pic>
        <p:nvPicPr>
          <p:cNvPr id="2097174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707231" y="1482328"/>
            <a:ext cx="228600" cy="228600"/>
          </a:xfrm>
          <a:prstGeom prst="rect"/>
        </p:spPr>
      </p:pic>
      <p:sp>
        <p:nvSpPr>
          <p:cNvPr id="1048699" name="Text 3"/>
          <p:cNvSpPr/>
          <p:nvPr/>
        </p:nvSpPr>
        <p:spPr>
          <a:xfrm>
            <a:off x="1250156" y="1512605"/>
            <a:ext cx="3143250" cy="2032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1400" lang="en-US">
                <a:solidFill>
                  <a:srgbClr val="1A237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Smart Search</a:t>
            </a:r>
            <a:endParaRPr dirty="0" sz="1400" lang="en-US"/>
          </a:p>
        </p:txBody>
      </p:sp>
      <p:sp>
        <p:nvSpPr>
          <p:cNvPr id="1048700" name="Text 4"/>
          <p:cNvSpPr/>
          <p:nvPr/>
        </p:nvSpPr>
        <p:spPr>
          <a:xfrm>
            <a:off x="1250156" y="1826930"/>
            <a:ext cx="3143250" cy="3302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lnSpc>
                <a:spcPct val="128000"/>
              </a:lnSpc>
              <a:buNone/>
            </a:pPr>
            <a:r>
              <a:rPr dirty="0" sz="9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filtering by price, location, and availability ensures students find exactly what they need in seconds.</a:t>
            </a:r>
            <a:endParaRPr dirty="0" sz="950" lang="en-US"/>
          </a:p>
        </p:txBody>
      </p:sp>
      <p:sp>
        <p:nvSpPr>
          <p:cNvPr id="1048701" name="Shape 5"/>
          <p:cNvSpPr/>
          <p:nvPr/>
        </p:nvSpPr>
        <p:spPr>
          <a:xfrm>
            <a:off x="4750594" y="1346597"/>
            <a:ext cx="500063" cy="500063"/>
          </a:xfrm>
          <a:prstGeom prst="rect"/>
          <a:solidFill>
            <a:srgbClr val="2E7D32"/>
          </a:solidFill>
        </p:spPr>
      </p:sp>
      <p:pic>
        <p:nvPicPr>
          <p:cNvPr id="2097175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4886325" y="1482328"/>
            <a:ext cx="228600" cy="228600"/>
          </a:xfrm>
          <a:prstGeom prst="rect"/>
        </p:spPr>
      </p:pic>
      <p:sp>
        <p:nvSpPr>
          <p:cNvPr id="1048702" name="Text 6"/>
          <p:cNvSpPr/>
          <p:nvPr/>
        </p:nvSpPr>
        <p:spPr>
          <a:xfrm>
            <a:off x="5429250" y="1512605"/>
            <a:ext cx="3143250" cy="2032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1400" lang="en-US">
                <a:solidFill>
                  <a:srgbClr val="1A237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Reservation System</a:t>
            </a:r>
            <a:endParaRPr dirty="0" sz="1400" lang="en-US"/>
          </a:p>
        </p:txBody>
      </p:sp>
      <p:sp>
        <p:nvSpPr>
          <p:cNvPr id="1048703" name="Text 7"/>
          <p:cNvSpPr/>
          <p:nvPr/>
        </p:nvSpPr>
        <p:spPr>
          <a:xfrm>
            <a:off x="5429250" y="1826930"/>
            <a:ext cx="3143250" cy="4953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lnSpc>
                <a:spcPct val="128000"/>
              </a:lnSpc>
              <a:buNone/>
            </a:pPr>
            <a:r>
              <a:rPr dirty="0" sz="9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rooms instantly with a simulated deposit payment workflow, providing peace of mind for both students and landlords.</a:t>
            </a:r>
            <a:endParaRPr dirty="0" sz="950" lang="en-US"/>
          </a:p>
        </p:txBody>
      </p:sp>
      <p:sp>
        <p:nvSpPr>
          <p:cNvPr id="1048704" name="Shape 8"/>
          <p:cNvSpPr/>
          <p:nvPr/>
        </p:nvSpPr>
        <p:spPr>
          <a:xfrm>
            <a:off x="571500" y="2801271"/>
            <a:ext cx="500063" cy="500063"/>
          </a:xfrm>
          <a:prstGeom prst="rect"/>
          <a:solidFill>
            <a:srgbClr val="2E7D32"/>
          </a:solidFill>
        </p:spPr>
      </p:sp>
      <p:pic>
        <p:nvPicPr>
          <p:cNvPr id="2097176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678656" y="2937002"/>
            <a:ext cx="285750" cy="228600"/>
          </a:xfrm>
          <a:prstGeom prst="rect"/>
        </p:spPr>
      </p:pic>
      <p:sp>
        <p:nvSpPr>
          <p:cNvPr id="1048705" name="Text 9"/>
          <p:cNvSpPr/>
          <p:nvPr/>
        </p:nvSpPr>
        <p:spPr>
          <a:xfrm>
            <a:off x="1250156" y="2967279"/>
            <a:ext cx="3143250" cy="2032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1400" lang="en-US">
                <a:solidFill>
                  <a:srgbClr val="1A237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Direct Chat</a:t>
            </a:r>
            <a:endParaRPr dirty="0" sz="1400" lang="en-US"/>
          </a:p>
        </p:txBody>
      </p:sp>
      <p:sp>
        <p:nvSpPr>
          <p:cNvPr id="1048706" name="Text 10"/>
          <p:cNvSpPr/>
          <p:nvPr/>
        </p:nvSpPr>
        <p:spPr>
          <a:xfrm>
            <a:off x="1250156" y="3281604"/>
            <a:ext cx="3143250" cy="3302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lnSpc>
                <a:spcPct val="128000"/>
              </a:lnSpc>
              <a:buNone/>
            </a:pPr>
            <a:r>
              <a:rPr dirty="0" sz="9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communication channel allows direct coordination between students and property providers within the app.</a:t>
            </a:r>
            <a:endParaRPr dirty="0" sz="950" lang="en-US"/>
          </a:p>
        </p:txBody>
      </p:sp>
      <p:sp>
        <p:nvSpPr>
          <p:cNvPr id="1048707" name="Shape 11"/>
          <p:cNvSpPr/>
          <p:nvPr/>
        </p:nvSpPr>
        <p:spPr>
          <a:xfrm>
            <a:off x="4750594" y="2801271"/>
            <a:ext cx="500063" cy="500063"/>
          </a:xfrm>
          <a:prstGeom prst="rect"/>
          <a:solidFill>
            <a:srgbClr val="2E7D32"/>
          </a:solidFill>
        </p:spPr>
      </p:sp>
      <p:pic>
        <p:nvPicPr>
          <p:cNvPr id="2097177" name="Image 4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4900613" y="2937002"/>
            <a:ext cx="200025" cy="228600"/>
          </a:xfrm>
          <a:prstGeom prst="rect"/>
        </p:spPr>
      </p:pic>
      <p:sp>
        <p:nvSpPr>
          <p:cNvPr id="1048708" name="Text 12"/>
          <p:cNvSpPr/>
          <p:nvPr/>
        </p:nvSpPr>
        <p:spPr>
          <a:xfrm>
            <a:off x="5429250" y="2967279"/>
            <a:ext cx="3143250" cy="2032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1400" lang="en-US">
                <a:solidFill>
                  <a:srgbClr val="1A237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Real-time Alerts</a:t>
            </a:r>
            <a:endParaRPr dirty="0" sz="1400" lang="en-US"/>
          </a:p>
        </p:txBody>
      </p:sp>
      <p:sp>
        <p:nvSpPr>
          <p:cNvPr id="1048709" name="Text 13"/>
          <p:cNvSpPr/>
          <p:nvPr/>
        </p:nvSpPr>
        <p:spPr>
          <a:xfrm>
            <a:off x="5429250" y="3281604"/>
            <a:ext cx="3143250" cy="3302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lnSpc>
                <a:spcPct val="128000"/>
              </a:lnSpc>
              <a:buNone/>
            </a:pPr>
            <a:r>
              <a:rPr dirty="0" sz="9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notifications alert users as soon as new accommodations matching their specific criteria are listed.</a:t>
            </a:r>
            <a:endParaRPr dirty="0" sz="95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48641" name="Shape 0"/>
          <p:cNvSpPr/>
          <p:nvPr/>
        </p:nvSpPr>
        <p:spPr>
          <a:xfrm>
            <a:off x="0" y="0"/>
            <a:ext cx="9144000" cy="917972"/>
          </a:xfrm>
          <a:prstGeom prst="rect"/>
          <a:solidFill>
            <a:srgbClr val="1A237E"/>
          </a:solidFill>
        </p:spPr>
      </p:sp>
      <p:sp>
        <p:nvSpPr>
          <p:cNvPr id="1048642" name="Text 1"/>
          <p:cNvSpPr/>
          <p:nvPr/>
        </p:nvSpPr>
        <p:spPr>
          <a:xfrm>
            <a:off x="571500" y="285750"/>
            <a:ext cx="8572500" cy="3556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2450" lang="en-US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System Architecture: MVVM Pattern</a:t>
            </a:r>
            <a:endParaRPr dirty="0" sz="2450" lang="en-US"/>
          </a:p>
        </p:txBody>
      </p:sp>
      <p:sp>
        <p:nvSpPr>
          <p:cNvPr id="1048643" name="Text 2"/>
          <p:cNvSpPr/>
          <p:nvPr/>
        </p:nvSpPr>
        <p:spPr>
          <a:xfrm>
            <a:off x="571500" y="1489472"/>
            <a:ext cx="1839516" cy="121444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ctr" indent="0" marL="0">
              <a:buNone/>
            </a:pPr>
            <a:r>
              <a:rPr b="1" dirty="0" sz="700" kern="0" lang="en-US" spc="1">
                <a:solidFill>
                  <a:srgbClr val="2E7D3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VIEW</a:t>
            </a:r>
            <a:endParaRPr dirty="0" sz="700" lang="en-US"/>
          </a:p>
        </p:txBody>
      </p:sp>
      <p:sp>
        <p:nvSpPr>
          <p:cNvPr id="1048644" name="Shape 3"/>
          <p:cNvSpPr/>
          <p:nvPr/>
        </p:nvSpPr>
        <p:spPr>
          <a:xfrm>
            <a:off x="1276945" y="1646634"/>
            <a:ext cx="428625" cy="428625"/>
          </a:xfrm>
          <a:prstGeom prst="ellipse"/>
          <a:solidFill>
            <a:srgbClr val="2E7D32"/>
          </a:solidFill>
        </p:spPr>
      </p:sp>
      <p:pic>
        <p:nvPicPr>
          <p:cNvPr id="2097165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416248" y="1760934"/>
            <a:ext cx="150019" cy="200025"/>
          </a:xfrm>
          <a:prstGeom prst="rect"/>
        </p:spPr>
      </p:pic>
      <p:sp>
        <p:nvSpPr>
          <p:cNvPr id="1048645" name="Text 4"/>
          <p:cNvSpPr/>
          <p:nvPr/>
        </p:nvSpPr>
        <p:spPr>
          <a:xfrm>
            <a:off x="571500" y="2218134"/>
            <a:ext cx="1839516" cy="1778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ctr" indent="0" marL="0">
              <a:buNone/>
            </a:pPr>
            <a:r>
              <a:rPr b="1" dirty="0" sz="1200" lang="en-US">
                <a:solidFill>
                  <a:srgbClr val="1A237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UI Layer</a:t>
            </a:r>
            <a:endParaRPr dirty="0" sz="1200" lang="en-US"/>
          </a:p>
        </p:txBody>
      </p:sp>
      <p:sp>
        <p:nvSpPr>
          <p:cNvPr id="1048646" name="Text 5"/>
          <p:cNvSpPr/>
          <p:nvPr/>
        </p:nvSpPr>
        <p:spPr>
          <a:xfrm>
            <a:off x="571500" y="2541389"/>
            <a:ext cx="1839516" cy="2794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ctr" indent="0" marL="0">
              <a:lnSpc>
                <a:spcPct val="120000"/>
              </a:lnSpc>
              <a:buNone/>
            </a:pPr>
            <a:r>
              <a:rPr dirty="0" sz="850" lang="en-US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Activities and Fragments that display data.</a:t>
            </a:r>
            <a:endParaRPr dirty="0" sz="850" lang="en-US"/>
          </a:p>
        </p:txBody>
      </p:sp>
      <p:sp>
        <p:nvSpPr>
          <p:cNvPr id="1048647" name="Text 6"/>
          <p:cNvSpPr/>
          <p:nvPr/>
        </p:nvSpPr>
        <p:spPr>
          <a:xfrm>
            <a:off x="714375" y="2991445"/>
            <a:ext cx="774700" cy="114300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-127000" marL="127000">
              <a:lnSpc>
                <a:spcPct val="128000"/>
              </a:lnSpc>
              <a:buSzPct val="100000"/>
              <a:buChar char="•"/>
            </a:pPr>
            <a:r>
              <a:rPr dirty="0" sz="7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Interaction</a:t>
            </a:r>
            <a:endParaRPr dirty="0" sz="750" lang="en-US"/>
          </a:p>
        </p:txBody>
      </p:sp>
      <p:sp>
        <p:nvSpPr>
          <p:cNvPr id="1048648" name="Text 7"/>
          <p:cNvSpPr/>
          <p:nvPr/>
        </p:nvSpPr>
        <p:spPr>
          <a:xfrm>
            <a:off x="714375" y="3208604"/>
            <a:ext cx="838200" cy="114300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-127000" marL="127000">
              <a:lnSpc>
                <a:spcPct val="128000"/>
              </a:lnSpc>
              <a:buSzPct val="100000"/>
              <a:buChar char="•"/>
            </a:pPr>
            <a:r>
              <a:rPr dirty="0" sz="7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Observation</a:t>
            </a:r>
            <a:endParaRPr dirty="0" sz="750" lang="en-US"/>
          </a:p>
        </p:txBody>
      </p:sp>
      <p:sp>
        <p:nvSpPr>
          <p:cNvPr id="1048649" name="Text 8"/>
          <p:cNvSpPr/>
          <p:nvPr/>
        </p:nvSpPr>
        <p:spPr>
          <a:xfrm>
            <a:off x="714375" y="3425763"/>
            <a:ext cx="812800" cy="114301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-127000" marL="127000">
              <a:lnSpc>
                <a:spcPct val="128000"/>
              </a:lnSpc>
              <a:buSzPct val="100000"/>
              <a:buChar char="•"/>
            </a:pPr>
            <a:r>
              <a:rPr dirty="0" sz="7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Navigation Logic</a:t>
            </a:r>
            <a:endParaRPr dirty="0" sz="750" lang="en-US"/>
          </a:p>
        </p:txBody>
      </p:sp>
      <p:sp>
        <p:nvSpPr>
          <p:cNvPr id="1048650" name="Text 9"/>
          <p:cNvSpPr/>
          <p:nvPr/>
        </p:nvSpPr>
        <p:spPr>
          <a:xfrm>
            <a:off x="2625328" y="1489472"/>
            <a:ext cx="1839516" cy="121444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ctr" indent="0" marL="0">
              <a:buNone/>
            </a:pPr>
            <a:r>
              <a:rPr b="1" dirty="0" sz="700" kern="0" lang="en-US" spc="1">
                <a:solidFill>
                  <a:srgbClr val="2E7D3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VIEWMODEL</a:t>
            </a:r>
            <a:endParaRPr dirty="0" sz="700" lang="en-US"/>
          </a:p>
        </p:txBody>
      </p:sp>
      <p:sp>
        <p:nvSpPr>
          <p:cNvPr id="1048651" name="Shape 10"/>
          <p:cNvSpPr/>
          <p:nvPr/>
        </p:nvSpPr>
        <p:spPr>
          <a:xfrm>
            <a:off x="3330773" y="1646634"/>
            <a:ext cx="428625" cy="428625"/>
          </a:xfrm>
          <a:prstGeom prst="ellipse"/>
          <a:solidFill>
            <a:srgbClr val="2E7D32"/>
          </a:solidFill>
        </p:spPr>
      </p:sp>
      <p:pic>
        <p:nvPicPr>
          <p:cNvPr id="2097166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3445073" y="1760934"/>
            <a:ext cx="200025" cy="200025"/>
          </a:xfrm>
          <a:prstGeom prst="rect"/>
        </p:spPr>
      </p:pic>
      <p:sp>
        <p:nvSpPr>
          <p:cNvPr id="1048652" name="Text 11"/>
          <p:cNvSpPr/>
          <p:nvPr/>
        </p:nvSpPr>
        <p:spPr>
          <a:xfrm>
            <a:off x="2625328" y="2218134"/>
            <a:ext cx="1839516" cy="1778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ctr" indent="0" marL="0">
              <a:buNone/>
            </a:pPr>
            <a:r>
              <a:rPr b="1" dirty="0" sz="1200" lang="en-US">
                <a:solidFill>
                  <a:srgbClr val="1A237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Logic Layer</a:t>
            </a:r>
            <a:endParaRPr dirty="0" sz="1200" lang="en-US"/>
          </a:p>
        </p:txBody>
      </p:sp>
      <p:sp>
        <p:nvSpPr>
          <p:cNvPr id="1048653" name="Text 12"/>
          <p:cNvSpPr/>
          <p:nvPr/>
        </p:nvSpPr>
        <p:spPr>
          <a:xfrm>
            <a:off x="2625328" y="2541389"/>
            <a:ext cx="1839516" cy="2794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ctr" indent="0" marL="0">
              <a:lnSpc>
                <a:spcPct val="120000"/>
              </a:lnSpc>
              <a:buNone/>
            </a:pPr>
            <a:r>
              <a:rPr dirty="0" sz="850" lang="en-US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Prepares data and handles business logic.</a:t>
            </a:r>
            <a:endParaRPr dirty="0" sz="850" lang="en-US"/>
          </a:p>
        </p:txBody>
      </p:sp>
      <p:sp>
        <p:nvSpPr>
          <p:cNvPr id="1048654" name="Text 13"/>
          <p:cNvSpPr/>
          <p:nvPr/>
        </p:nvSpPr>
        <p:spPr>
          <a:xfrm>
            <a:off x="2768203" y="2991445"/>
            <a:ext cx="889000" cy="114300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-127000" marL="127000">
              <a:lnSpc>
                <a:spcPct val="128000"/>
              </a:lnSpc>
              <a:buSzPct val="100000"/>
              <a:buChar char="•"/>
            </a:pPr>
            <a:r>
              <a:rPr dirty="0" sz="7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Management</a:t>
            </a:r>
            <a:endParaRPr dirty="0" sz="750" lang="en-US"/>
          </a:p>
        </p:txBody>
      </p:sp>
      <p:sp>
        <p:nvSpPr>
          <p:cNvPr id="1048655" name="Text 14"/>
          <p:cNvSpPr/>
          <p:nvPr/>
        </p:nvSpPr>
        <p:spPr>
          <a:xfrm>
            <a:off x="2768203" y="3208604"/>
            <a:ext cx="800100" cy="114300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-127000" marL="127000">
              <a:lnSpc>
                <a:spcPct val="128000"/>
              </a:lnSpc>
              <a:buSzPct val="100000"/>
              <a:buChar char="•"/>
            </a:pPr>
            <a:r>
              <a:rPr dirty="0" sz="7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Processing</a:t>
            </a:r>
            <a:endParaRPr dirty="0" sz="750" lang="en-US"/>
          </a:p>
        </p:txBody>
      </p:sp>
      <p:sp>
        <p:nvSpPr>
          <p:cNvPr id="1048656" name="Text 15"/>
          <p:cNvSpPr/>
          <p:nvPr/>
        </p:nvSpPr>
        <p:spPr>
          <a:xfrm>
            <a:off x="2768203" y="3425763"/>
            <a:ext cx="977900" cy="114301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-127000" marL="127000">
              <a:lnSpc>
                <a:spcPct val="128000"/>
              </a:lnSpc>
              <a:buSzPct val="100000"/>
              <a:buChar char="•"/>
            </a:pPr>
            <a:r>
              <a:rPr dirty="0" sz="7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Lifecycle Awareness</a:t>
            </a:r>
            <a:endParaRPr dirty="0" sz="750" lang="en-US"/>
          </a:p>
        </p:txBody>
      </p:sp>
      <p:sp>
        <p:nvSpPr>
          <p:cNvPr id="1048657" name="Text 16"/>
          <p:cNvSpPr/>
          <p:nvPr/>
        </p:nvSpPr>
        <p:spPr>
          <a:xfrm>
            <a:off x="4679156" y="1489472"/>
            <a:ext cx="1839516" cy="121444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ctr" indent="0" marL="0">
              <a:buNone/>
            </a:pPr>
            <a:r>
              <a:rPr b="1" dirty="0" sz="700" kern="0" lang="en-US" spc="1">
                <a:solidFill>
                  <a:srgbClr val="2E7D3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REPOSITORY</a:t>
            </a:r>
            <a:endParaRPr dirty="0" sz="700" lang="en-US"/>
          </a:p>
        </p:txBody>
      </p:sp>
      <p:sp>
        <p:nvSpPr>
          <p:cNvPr id="1048658" name="Shape 17"/>
          <p:cNvSpPr/>
          <p:nvPr/>
        </p:nvSpPr>
        <p:spPr>
          <a:xfrm>
            <a:off x="5384602" y="1646634"/>
            <a:ext cx="428625" cy="428625"/>
          </a:xfrm>
          <a:prstGeom prst="ellipse"/>
          <a:solidFill>
            <a:srgbClr val="2E7D32"/>
          </a:solidFill>
        </p:spPr>
      </p:sp>
      <p:pic>
        <p:nvPicPr>
          <p:cNvPr id="2097167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5498902" y="1760934"/>
            <a:ext cx="200025" cy="200025"/>
          </a:xfrm>
          <a:prstGeom prst="rect"/>
        </p:spPr>
      </p:pic>
      <p:sp>
        <p:nvSpPr>
          <p:cNvPr id="1048659" name="Text 18"/>
          <p:cNvSpPr/>
          <p:nvPr/>
        </p:nvSpPr>
        <p:spPr>
          <a:xfrm>
            <a:off x="4679156" y="2218134"/>
            <a:ext cx="1839516" cy="1778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ctr" indent="0" marL="0">
              <a:buNone/>
            </a:pPr>
            <a:r>
              <a:rPr b="1" dirty="0" sz="1200" lang="en-US">
                <a:solidFill>
                  <a:srgbClr val="1A237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Access</a:t>
            </a:r>
            <a:endParaRPr dirty="0" sz="1200" lang="en-US"/>
          </a:p>
        </p:txBody>
      </p:sp>
      <p:sp>
        <p:nvSpPr>
          <p:cNvPr id="1048660" name="Text 19"/>
          <p:cNvSpPr/>
          <p:nvPr/>
        </p:nvSpPr>
        <p:spPr>
          <a:xfrm>
            <a:off x="4679156" y="2541389"/>
            <a:ext cx="1839516" cy="1397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ctr" indent="0" marL="0">
              <a:lnSpc>
                <a:spcPct val="120000"/>
              </a:lnSpc>
              <a:buNone/>
            </a:pPr>
            <a:r>
              <a:rPr dirty="0" sz="850" lang="en-US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Coordinates data flow between sources.</a:t>
            </a:r>
            <a:endParaRPr dirty="0" sz="850" lang="en-US"/>
          </a:p>
        </p:txBody>
      </p:sp>
      <p:sp>
        <p:nvSpPr>
          <p:cNvPr id="1048661" name="Text 20"/>
          <p:cNvSpPr/>
          <p:nvPr/>
        </p:nvSpPr>
        <p:spPr>
          <a:xfrm>
            <a:off x="4822031" y="2991445"/>
            <a:ext cx="812800" cy="114300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-127000" marL="127000">
              <a:lnSpc>
                <a:spcPct val="128000"/>
              </a:lnSpc>
              <a:buSzPct val="100000"/>
              <a:buChar char="•"/>
            </a:pPr>
            <a:r>
              <a:rPr dirty="0" sz="7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Selection</a:t>
            </a:r>
            <a:endParaRPr dirty="0" sz="750" lang="en-US"/>
          </a:p>
        </p:txBody>
      </p:sp>
      <p:sp>
        <p:nvSpPr>
          <p:cNvPr id="1048662" name="Text 21"/>
          <p:cNvSpPr/>
          <p:nvPr/>
        </p:nvSpPr>
        <p:spPr>
          <a:xfrm>
            <a:off x="4822031" y="3208604"/>
            <a:ext cx="660400" cy="114300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-127000" marL="127000">
              <a:lnSpc>
                <a:spcPct val="128000"/>
              </a:lnSpc>
              <a:buSzPct val="100000"/>
              <a:buChar char="•"/>
            </a:pPr>
            <a:r>
              <a:rPr dirty="0" sz="7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Syncing</a:t>
            </a:r>
            <a:endParaRPr dirty="0" sz="750" lang="en-US"/>
          </a:p>
        </p:txBody>
      </p:sp>
      <p:sp>
        <p:nvSpPr>
          <p:cNvPr id="1048663" name="Text 22"/>
          <p:cNvSpPr/>
          <p:nvPr/>
        </p:nvSpPr>
        <p:spPr>
          <a:xfrm>
            <a:off x="4822031" y="3425763"/>
            <a:ext cx="812800" cy="114301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-127000" marL="127000">
              <a:lnSpc>
                <a:spcPct val="128000"/>
              </a:lnSpc>
              <a:buSzPct val="100000"/>
              <a:buChar char="•"/>
            </a:pPr>
            <a:r>
              <a:rPr dirty="0" sz="7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API for VM</a:t>
            </a:r>
            <a:endParaRPr dirty="0" sz="750" lang="en-US"/>
          </a:p>
        </p:txBody>
      </p:sp>
      <p:sp>
        <p:nvSpPr>
          <p:cNvPr id="1048664" name="Text 23"/>
          <p:cNvSpPr/>
          <p:nvPr/>
        </p:nvSpPr>
        <p:spPr>
          <a:xfrm>
            <a:off x="6732984" y="1489472"/>
            <a:ext cx="1839516" cy="121444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ctr" indent="0" marL="0">
              <a:buNone/>
            </a:pPr>
            <a:r>
              <a:rPr b="1" dirty="0" sz="700" kern="0" lang="en-US" spc="1">
                <a:solidFill>
                  <a:srgbClr val="2E7D3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MODEL</a:t>
            </a:r>
            <a:endParaRPr dirty="0" sz="700" lang="en-US"/>
          </a:p>
        </p:txBody>
      </p:sp>
      <p:sp>
        <p:nvSpPr>
          <p:cNvPr id="1048665" name="Shape 24"/>
          <p:cNvSpPr/>
          <p:nvPr/>
        </p:nvSpPr>
        <p:spPr>
          <a:xfrm>
            <a:off x="7438430" y="1646634"/>
            <a:ext cx="428625" cy="428625"/>
          </a:xfrm>
          <a:prstGeom prst="ellipse"/>
          <a:solidFill>
            <a:srgbClr val="2E7D32"/>
          </a:solidFill>
        </p:spPr>
      </p:sp>
      <p:pic>
        <p:nvPicPr>
          <p:cNvPr id="2097168" name="Image 4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7565231" y="1760934"/>
            <a:ext cx="175022" cy="200025"/>
          </a:xfrm>
          <a:prstGeom prst="rect"/>
        </p:spPr>
      </p:pic>
      <p:sp>
        <p:nvSpPr>
          <p:cNvPr id="1048666" name="Text 25"/>
          <p:cNvSpPr/>
          <p:nvPr/>
        </p:nvSpPr>
        <p:spPr>
          <a:xfrm>
            <a:off x="6732984" y="2218134"/>
            <a:ext cx="1839516" cy="1778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ctr" indent="0" marL="0">
              <a:buNone/>
            </a:pPr>
            <a:r>
              <a:rPr b="1" dirty="0" sz="1200" lang="en-US">
                <a:solidFill>
                  <a:srgbClr val="1A237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Layer</a:t>
            </a:r>
            <a:endParaRPr dirty="0" sz="1200" lang="en-US"/>
          </a:p>
        </p:txBody>
      </p:sp>
      <p:sp>
        <p:nvSpPr>
          <p:cNvPr id="1048667" name="Text 26"/>
          <p:cNvSpPr/>
          <p:nvPr/>
        </p:nvSpPr>
        <p:spPr>
          <a:xfrm>
            <a:off x="6732984" y="2541389"/>
            <a:ext cx="1839516" cy="1397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ctr" indent="0" marL="0">
              <a:lnSpc>
                <a:spcPct val="120000"/>
              </a:lnSpc>
              <a:buNone/>
            </a:pPr>
            <a:r>
              <a:rPr dirty="0" sz="850" lang="en-US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Defines data structures and entities.</a:t>
            </a:r>
            <a:endParaRPr dirty="0" sz="850" lang="en-US"/>
          </a:p>
        </p:txBody>
      </p:sp>
      <p:sp>
        <p:nvSpPr>
          <p:cNvPr id="1048668" name="Text 27"/>
          <p:cNvSpPr/>
          <p:nvPr/>
        </p:nvSpPr>
        <p:spPr>
          <a:xfrm>
            <a:off x="6875859" y="2991445"/>
            <a:ext cx="685801" cy="114300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-127000" marL="127000">
              <a:lnSpc>
                <a:spcPct val="128000"/>
              </a:lnSpc>
              <a:buSzPct val="100000"/>
              <a:buChar char="•"/>
            </a:pPr>
            <a:r>
              <a:rPr dirty="0" sz="7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Entities</a:t>
            </a:r>
            <a:endParaRPr dirty="0" sz="750" lang="en-US"/>
          </a:p>
        </p:txBody>
      </p:sp>
      <p:sp>
        <p:nvSpPr>
          <p:cNvPr id="1048669" name="Text 28"/>
          <p:cNvSpPr/>
          <p:nvPr/>
        </p:nvSpPr>
        <p:spPr>
          <a:xfrm>
            <a:off x="6875859" y="3208604"/>
            <a:ext cx="1003301" cy="114300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-127000" marL="127000">
              <a:lnSpc>
                <a:spcPct val="128000"/>
              </a:lnSpc>
              <a:buSzPct val="100000"/>
              <a:buChar char="•"/>
            </a:pPr>
            <a:r>
              <a:rPr dirty="0" sz="7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Access Objects</a:t>
            </a:r>
            <a:endParaRPr dirty="0" sz="750" lang="en-US"/>
          </a:p>
        </p:txBody>
      </p:sp>
      <p:sp>
        <p:nvSpPr>
          <p:cNvPr id="1048670" name="Text 29"/>
          <p:cNvSpPr/>
          <p:nvPr/>
        </p:nvSpPr>
        <p:spPr>
          <a:xfrm>
            <a:off x="6875859" y="3425763"/>
            <a:ext cx="863601" cy="114301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-127000" marL="127000">
              <a:lnSpc>
                <a:spcPct val="128000"/>
              </a:lnSpc>
              <a:buSzPct val="100000"/>
              <a:buChar char="•"/>
            </a:pPr>
            <a:r>
              <a:rPr dirty="0" sz="7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Persistence</a:t>
            </a:r>
            <a:endParaRPr dirty="0" sz="75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48576" name="Shape 0"/>
          <p:cNvSpPr/>
          <p:nvPr/>
        </p:nvSpPr>
        <p:spPr>
          <a:xfrm>
            <a:off x="0" y="0"/>
            <a:ext cx="9144000" cy="917972"/>
          </a:xfrm>
          <a:prstGeom prst="rect"/>
          <a:solidFill>
            <a:srgbClr val="1A237E"/>
          </a:solidFill>
        </p:spPr>
      </p:sp>
      <p:sp>
        <p:nvSpPr>
          <p:cNvPr id="1048577" name="Text 1"/>
          <p:cNvSpPr/>
          <p:nvPr/>
        </p:nvSpPr>
        <p:spPr>
          <a:xfrm>
            <a:off x="571500" y="285750"/>
            <a:ext cx="8572500" cy="3556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2450" lang="en-US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Key Functional Features</a:t>
            </a:r>
            <a:endParaRPr dirty="0" sz="2450" lang="en-US"/>
          </a:p>
        </p:txBody>
      </p:sp>
      <p:pic>
        <p:nvPicPr>
          <p:cNvPr id="2097153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571500" y="1353741"/>
            <a:ext cx="285750" cy="228600"/>
          </a:xfrm>
          <a:prstGeom prst="rect"/>
        </p:spPr>
      </p:pic>
      <p:sp>
        <p:nvSpPr>
          <p:cNvPr id="1048578" name="Text 2"/>
          <p:cNvSpPr/>
          <p:nvPr/>
        </p:nvSpPr>
        <p:spPr>
          <a:xfrm>
            <a:off x="1000125" y="1346597"/>
            <a:ext cx="1584127" cy="203201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1400" lang="en-US">
                <a:solidFill>
                  <a:srgbClr val="1A237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Authentication</a:t>
            </a:r>
            <a:endParaRPr dirty="0" sz="1400" lang="en-US"/>
          </a:p>
        </p:txBody>
      </p:sp>
      <p:sp>
        <p:nvSpPr>
          <p:cNvPr id="1048579" name="Text 3"/>
          <p:cNvSpPr/>
          <p:nvPr/>
        </p:nvSpPr>
        <p:spPr>
          <a:xfrm>
            <a:off x="942975" y="1846659"/>
            <a:ext cx="2006601" cy="165100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lnSpc>
                <a:spcPct val="112000"/>
              </a:lnSpc>
              <a:buNone/>
            </a:pPr>
            <a:r>
              <a:rPr dirty="0" sz="10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registration and login system</a:t>
            </a:r>
            <a:endParaRPr dirty="0" sz="1050" lang="en-US"/>
          </a:p>
        </p:txBody>
      </p:sp>
      <p:sp>
        <p:nvSpPr>
          <p:cNvPr id="1048580" name="Text 4"/>
          <p:cNvSpPr/>
          <p:nvPr/>
        </p:nvSpPr>
        <p:spPr>
          <a:xfrm>
            <a:off x="942975" y="2132409"/>
            <a:ext cx="2565400" cy="165100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lnSpc>
                <a:spcPct val="112000"/>
              </a:lnSpc>
              <a:buNone/>
            </a:pPr>
            <a:r>
              <a:rPr dirty="0" sz="10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access for Students and Landlords</a:t>
            </a:r>
            <a:endParaRPr dirty="0" sz="1050" lang="en-US"/>
          </a:p>
        </p:txBody>
      </p:sp>
      <p:sp>
        <p:nvSpPr>
          <p:cNvPr id="1048581" name="Text 5"/>
          <p:cNvSpPr/>
          <p:nvPr/>
        </p:nvSpPr>
        <p:spPr>
          <a:xfrm>
            <a:off x="942975" y="2418159"/>
            <a:ext cx="2324100" cy="165100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lnSpc>
                <a:spcPct val="112000"/>
              </a:lnSpc>
              <a:buNone/>
            </a:pPr>
            <a:r>
              <a:rPr dirty="0" sz="10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input validation and error handling</a:t>
            </a:r>
            <a:endParaRPr dirty="0" sz="1050" lang="en-US"/>
          </a:p>
        </p:txBody>
      </p:sp>
      <p:sp>
        <p:nvSpPr>
          <p:cNvPr id="1048582" name="Text 6"/>
          <p:cNvSpPr/>
          <p:nvPr/>
        </p:nvSpPr>
        <p:spPr>
          <a:xfrm>
            <a:off x="764381" y="1875234"/>
            <a:ext cx="63500" cy="114301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lnSpc>
                <a:spcPct val="112000"/>
              </a:lnSpc>
              <a:buNone/>
            </a:pPr>
            <a:r>
              <a:rPr dirty="0" sz="750" lang="en-US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dirty="0" sz="750" lang="en-US"/>
          </a:p>
        </p:txBody>
      </p:sp>
      <p:sp>
        <p:nvSpPr>
          <p:cNvPr id="1048583" name="Text 7"/>
          <p:cNvSpPr/>
          <p:nvPr/>
        </p:nvSpPr>
        <p:spPr>
          <a:xfrm>
            <a:off x="764381" y="2160984"/>
            <a:ext cx="63500" cy="114301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lnSpc>
                <a:spcPct val="112000"/>
              </a:lnSpc>
              <a:buNone/>
            </a:pPr>
            <a:r>
              <a:rPr dirty="0" sz="750" lang="en-US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dirty="0" sz="750" lang="en-US"/>
          </a:p>
        </p:txBody>
      </p:sp>
      <p:sp>
        <p:nvSpPr>
          <p:cNvPr id="1048584" name="Text 8"/>
          <p:cNvSpPr/>
          <p:nvPr/>
        </p:nvSpPr>
        <p:spPr>
          <a:xfrm>
            <a:off x="764381" y="2446734"/>
            <a:ext cx="63500" cy="114301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lnSpc>
                <a:spcPct val="112000"/>
              </a:lnSpc>
              <a:buNone/>
            </a:pPr>
            <a:r>
              <a:rPr dirty="0" sz="750" lang="en-US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dirty="0" sz="750" lang="en-US"/>
          </a:p>
        </p:txBody>
      </p:sp>
      <p:pic>
        <p:nvPicPr>
          <p:cNvPr id="2097154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4786313" y="1353741"/>
            <a:ext cx="228600" cy="228600"/>
          </a:xfrm>
          <a:prstGeom prst="rect"/>
        </p:spPr>
      </p:pic>
      <p:sp>
        <p:nvSpPr>
          <p:cNvPr id="1048585" name="Text 9"/>
          <p:cNvSpPr/>
          <p:nvPr/>
        </p:nvSpPr>
        <p:spPr>
          <a:xfrm>
            <a:off x="5157788" y="1346597"/>
            <a:ext cx="2616398" cy="203201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1400" lang="en-US">
                <a:solidFill>
                  <a:srgbClr val="1A237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Accommodation Listings</a:t>
            </a:r>
            <a:endParaRPr dirty="0" sz="1400" lang="en-US"/>
          </a:p>
        </p:txBody>
      </p:sp>
      <p:sp>
        <p:nvSpPr>
          <p:cNvPr id="1048586" name="Text 10"/>
          <p:cNvSpPr/>
          <p:nvPr/>
        </p:nvSpPr>
        <p:spPr>
          <a:xfrm>
            <a:off x="5157788" y="1846659"/>
            <a:ext cx="2438400" cy="165100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lnSpc>
                <a:spcPct val="112000"/>
              </a:lnSpc>
              <a:buNone/>
            </a:pPr>
            <a:r>
              <a:rPr dirty="0" sz="10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property details and images</a:t>
            </a:r>
            <a:endParaRPr dirty="0" sz="1050" lang="en-US"/>
          </a:p>
        </p:txBody>
      </p:sp>
      <p:sp>
        <p:nvSpPr>
          <p:cNvPr id="1048587" name="Text 11"/>
          <p:cNvSpPr/>
          <p:nvPr/>
        </p:nvSpPr>
        <p:spPr>
          <a:xfrm>
            <a:off x="5157788" y="2132409"/>
            <a:ext cx="1879601" cy="165100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lnSpc>
                <a:spcPct val="112000"/>
              </a:lnSpc>
              <a:buNone/>
            </a:pPr>
            <a:r>
              <a:rPr dirty="0" sz="10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pricing displayed in BWP</a:t>
            </a:r>
            <a:endParaRPr dirty="0" sz="1050" lang="en-US"/>
          </a:p>
        </p:txBody>
      </p:sp>
      <p:sp>
        <p:nvSpPr>
          <p:cNvPr id="1048588" name="Text 12"/>
          <p:cNvSpPr/>
          <p:nvPr/>
        </p:nvSpPr>
        <p:spPr>
          <a:xfrm>
            <a:off x="5157788" y="2418159"/>
            <a:ext cx="2171700" cy="165100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lnSpc>
                <a:spcPct val="112000"/>
              </a:lnSpc>
              <a:buNone/>
            </a:pPr>
            <a:r>
              <a:rPr dirty="0" sz="10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availability and status tracking</a:t>
            </a:r>
            <a:endParaRPr dirty="0" sz="1050" lang="en-US"/>
          </a:p>
        </p:txBody>
      </p:sp>
      <p:sp>
        <p:nvSpPr>
          <p:cNvPr id="1048589" name="Text 13"/>
          <p:cNvSpPr/>
          <p:nvPr/>
        </p:nvSpPr>
        <p:spPr>
          <a:xfrm>
            <a:off x="4979194" y="1875234"/>
            <a:ext cx="63499" cy="114301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lnSpc>
                <a:spcPct val="112000"/>
              </a:lnSpc>
              <a:buNone/>
            </a:pPr>
            <a:r>
              <a:rPr dirty="0" sz="750" lang="en-US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dirty="0" sz="750" lang="en-US"/>
          </a:p>
        </p:txBody>
      </p:sp>
      <p:sp>
        <p:nvSpPr>
          <p:cNvPr id="1048590" name="Text 14"/>
          <p:cNvSpPr/>
          <p:nvPr/>
        </p:nvSpPr>
        <p:spPr>
          <a:xfrm>
            <a:off x="4979194" y="2160984"/>
            <a:ext cx="63499" cy="114301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lnSpc>
                <a:spcPct val="112000"/>
              </a:lnSpc>
              <a:buNone/>
            </a:pPr>
            <a:r>
              <a:rPr dirty="0" sz="750" lang="en-US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dirty="0" sz="750" lang="en-US"/>
          </a:p>
        </p:txBody>
      </p:sp>
      <p:sp>
        <p:nvSpPr>
          <p:cNvPr id="1048591" name="Text 15"/>
          <p:cNvSpPr/>
          <p:nvPr/>
        </p:nvSpPr>
        <p:spPr>
          <a:xfrm>
            <a:off x="4979194" y="2446734"/>
            <a:ext cx="63499" cy="114301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lnSpc>
                <a:spcPct val="112000"/>
              </a:lnSpc>
              <a:buNone/>
            </a:pPr>
            <a:r>
              <a:rPr dirty="0" sz="750" lang="en-US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dirty="0" sz="750" lang="en-US"/>
          </a:p>
        </p:txBody>
      </p:sp>
      <p:pic>
        <p:nvPicPr>
          <p:cNvPr id="2097155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571500" y="3253978"/>
            <a:ext cx="228600" cy="228600"/>
          </a:xfrm>
          <a:prstGeom prst="rect"/>
        </p:spPr>
      </p:pic>
      <p:sp>
        <p:nvSpPr>
          <p:cNvPr id="1048592" name="Text 16"/>
          <p:cNvSpPr/>
          <p:nvPr/>
        </p:nvSpPr>
        <p:spPr>
          <a:xfrm>
            <a:off x="942975" y="3246834"/>
            <a:ext cx="1576983" cy="203201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1400" lang="en-US">
                <a:solidFill>
                  <a:srgbClr val="1A237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Smart Filtering</a:t>
            </a:r>
            <a:endParaRPr dirty="0" sz="1400" lang="en-US"/>
          </a:p>
        </p:txBody>
      </p:sp>
      <p:sp>
        <p:nvSpPr>
          <p:cNvPr id="1048593" name="Text 17"/>
          <p:cNvSpPr/>
          <p:nvPr/>
        </p:nvSpPr>
        <p:spPr>
          <a:xfrm>
            <a:off x="942975" y="3746897"/>
            <a:ext cx="1752601" cy="165100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lnSpc>
                <a:spcPct val="112000"/>
              </a:lnSpc>
              <a:buNone/>
            </a:pPr>
            <a:r>
              <a:rPr dirty="0" sz="10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Location-based real-time search</a:t>
            </a:r>
            <a:endParaRPr dirty="0" sz="1050" lang="en-US"/>
          </a:p>
        </p:txBody>
      </p:sp>
      <p:sp>
        <p:nvSpPr>
          <p:cNvPr id="1048594" name="Text 18"/>
          <p:cNvSpPr/>
          <p:nvPr/>
        </p:nvSpPr>
        <p:spPr>
          <a:xfrm>
            <a:off x="942975" y="4032647"/>
            <a:ext cx="2044701" cy="165100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lnSpc>
                <a:spcPct val="112000"/>
              </a:lnSpc>
              <a:buNone/>
            </a:pPr>
            <a:r>
              <a:rPr dirty="0" sz="10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price range and date filters</a:t>
            </a:r>
            <a:endParaRPr dirty="0" sz="1050" lang="en-US"/>
          </a:p>
        </p:txBody>
      </p:sp>
      <p:sp>
        <p:nvSpPr>
          <p:cNvPr id="1048595" name="Text 19"/>
          <p:cNvSpPr/>
          <p:nvPr/>
        </p:nvSpPr>
        <p:spPr>
          <a:xfrm>
            <a:off x="942975" y="4318397"/>
            <a:ext cx="2032001" cy="165100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lnSpc>
                <a:spcPct val="112000"/>
              </a:lnSpc>
              <a:buNone/>
            </a:pPr>
            <a:r>
              <a:rPr dirty="0" sz="10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RecyclerView data updates</a:t>
            </a:r>
            <a:endParaRPr dirty="0" sz="1050" lang="en-US"/>
          </a:p>
        </p:txBody>
      </p:sp>
      <p:sp>
        <p:nvSpPr>
          <p:cNvPr id="1048596" name="Text 20"/>
          <p:cNvSpPr/>
          <p:nvPr/>
        </p:nvSpPr>
        <p:spPr>
          <a:xfrm>
            <a:off x="764381" y="3775472"/>
            <a:ext cx="63500" cy="114300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lnSpc>
                <a:spcPct val="112000"/>
              </a:lnSpc>
              <a:buNone/>
            </a:pPr>
            <a:r>
              <a:rPr dirty="0" sz="750" lang="en-US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dirty="0" sz="750" lang="en-US"/>
          </a:p>
        </p:txBody>
      </p:sp>
      <p:sp>
        <p:nvSpPr>
          <p:cNvPr id="1048597" name="Text 21"/>
          <p:cNvSpPr/>
          <p:nvPr/>
        </p:nvSpPr>
        <p:spPr>
          <a:xfrm>
            <a:off x="764381" y="4061222"/>
            <a:ext cx="63500" cy="114300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lnSpc>
                <a:spcPct val="112000"/>
              </a:lnSpc>
              <a:buNone/>
            </a:pPr>
            <a:r>
              <a:rPr dirty="0" sz="750" lang="en-US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dirty="0" sz="750" lang="en-US"/>
          </a:p>
        </p:txBody>
      </p:sp>
      <p:sp>
        <p:nvSpPr>
          <p:cNvPr id="1048598" name="Text 22"/>
          <p:cNvSpPr/>
          <p:nvPr/>
        </p:nvSpPr>
        <p:spPr>
          <a:xfrm>
            <a:off x="764381" y="4346972"/>
            <a:ext cx="63500" cy="114300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lnSpc>
                <a:spcPct val="112000"/>
              </a:lnSpc>
              <a:buNone/>
            </a:pPr>
            <a:r>
              <a:rPr dirty="0" sz="750" lang="en-US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dirty="0" sz="750" lang="en-US"/>
          </a:p>
        </p:txBody>
      </p:sp>
      <p:pic>
        <p:nvPicPr>
          <p:cNvPr id="2097156" name="Image 4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4786313" y="3253978"/>
            <a:ext cx="228600" cy="228600"/>
          </a:xfrm>
          <a:prstGeom prst="rect"/>
        </p:spPr>
      </p:pic>
      <p:sp>
        <p:nvSpPr>
          <p:cNvPr id="1048599" name="Text 23"/>
          <p:cNvSpPr/>
          <p:nvPr/>
        </p:nvSpPr>
        <p:spPr>
          <a:xfrm>
            <a:off x="5157788" y="3246834"/>
            <a:ext cx="2175272" cy="203201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1400" lang="en-US">
                <a:solidFill>
                  <a:srgbClr val="1A237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Simulated Payments</a:t>
            </a:r>
            <a:endParaRPr dirty="0" sz="1400" lang="en-US"/>
          </a:p>
        </p:txBody>
      </p:sp>
      <p:sp>
        <p:nvSpPr>
          <p:cNvPr id="1048600" name="Text 24"/>
          <p:cNvSpPr/>
          <p:nvPr/>
        </p:nvSpPr>
        <p:spPr>
          <a:xfrm>
            <a:off x="5157788" y="3746897"/>
            <a:ext cx="2159000" cy="165100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lnSpc>
                <a:spcPct val="112000"/>
              </a:lnSpc>
              <a:buNone/>
            </a:pPr>
            <a:r>
              <a:rPr dirty="0" sz="10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room reservation workflow</a:t>
            </a:r>
            <a:endParaRPr dirty="0" sz="1050" lang="en-US"/>
          </a:p>
        </p:txBody>
      </p:sp>
      <p:sp>
        <p:nvSpPr>
          <p:cNvPr id="1048601" name="Text 25"/>
          <p:cNvSpPr/>
          <p:nvPr/>
        </p:nvSpPr>
        <p:spPr>
          <a:xfrm>
            <a:off x="5157788" y="4032647"/>
            <a:ext cx="1955801" cy="165100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lnSpc>
                <a:spcPct val="112000"/>
              </a:lnSpc>
              <a:buNone/>
            </a:pPr>
            <a:r>
              <a:rPr dirty="0" sz="10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deposit payment simulation</a:t>
            </a:r>
            <a:endParaRPr dirty="0" sz="1050" lang="en-US"/>
          </a:p>
        </p:txBody>
      </p:sp>
      <p:sp>
        <p:nvSpPr>
          <p:cNvPr id="1048602" name="Text 26"/>
          <p:cNvSpPr/>
          <p:nvPr/>
        </p:nvSpPr>
        <p:spPr>
          <a:xfrm>
            <a:off x="5157788" y="4318397"/>
            <a:ext cx="2374900" cy="165100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lnSpc>
                <a:spcPct val="112000"/>
              </a:lnSpc>
              <a:buNone/>
            </a:pPr>
            <a:r>
              <a:rPr dirty="0" sz="10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receipt and reference generation</a:t>
            </a:r>
            <a:endParaRPr dirty="0" sz="1050" lang="en-US"/>
          </a:p>
        </p:txBody>
      </p:sp>
      <p:sp>
        <p:nvSpPr>
          <p:cNvPr id="1048603" name="Text 27"/>
          <p:cNvSpPr/>
          <p:nvPr/>
        </p:nvSpPr>
        <p:spPr>
          <a:xfrm>
            <a:off x="4979194" y="3775472"/>
            <a:ext cx="63499" cy="114300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lnSpc>
                <a:spcPct val="112000"/>
              </a:lnSpc>
              <a:buNone/>
            </a:pPr>
            <a:r>
              <a:rPr dirty="0" sz="750" lang="en-US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dirty="0" sz="750" lang="en-US"/>
          </a:p>
        </p:txBody>
      </p:sp>
      <p:sp>
        <p:nvSpPr>
          <p:cNvPr id="1048604" name="Text 28"/>
          <p:cNvSpPr/>
          <p:nvPr/>
        </p:nvSpPr>
        <p:spPr>
          <a:xfrm>
            <a:off x="4979194" y="4061222"/>
            <a:ext cx="63499" cy="114300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lnSpc>
                <a:spcPct val="112000"/>
              </a:lnSpc>
              <a:buNone/>
            </a:pPr>
            <a:r>
              <a:rPr dirty="0" sz="750" lang="en-US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dirty="0" sz="750" lang="en-US"/>
          </a:p>
        </p:txBody>
      </p:sp>
      <p:sp>
        <p:nvSpPr>
          <p:cNvPr id="1048605" name="Text 29"/>
          <p:cNvSpPr/>
          <p:nvPr/>
        </p:nvSpPr>
        <p:spPr>
          <a:xfrm>
            <a:off x="4979194" y="4346972"/>
            <a:ext cx="63499" cy="114300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lnSpc>
                <a:spcPct val="112000"/>
              </a:lnSpc>
              <a:buNone/>
            </a:pPr>
            <a:r>
              <a:rPr dirty="0" sz="750" lang="en-US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dirty="0" sz="75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7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48609" name="Shape 0"/>
          <p:cNvSpPr/>
          <p:nvPr/>
        </p:nvSpPr>
        <p:spPr>
          <a:xfrm>
            <a:off x="0" y="0"/>
            <a:ext cx="9144000" cy="917972"/>
          </a:xfrm>
          <a:prstGeom prst="rect"/>
          <a:solidFill>
            <a:srgbClr val="1A237E"/>
          </a:solidFill>
        </p:spPr>
      </p:sp>
      <p:sp>
        <p:nvSpPr>
          <p:cNvPr id="1048610" name="Text 1"/>
          <p:cNvSpPr/>
          <p:nvPr/>
        </p:nvSpPr>
        <p:spPr>
          <a:xfrm>
            <a:off x="571500" y="285750"/>
            <a:ext cx="8572500" cy="3556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2450" lang="en-US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Technology Stack</a:t>
            </a:r>
            <a:endParaRPr dirty="0" sz="2450" lang="en-US"/>
          </a:p>
        </p:txBody>
      </p:sp>
      <p:sp>
        <p:nvSpPr>
          <p:cNvPr id="1048611" name="Shape 2"/>
          <p:cNvSpPr/>
          <p:nvPr/>
        </p:nvSpPr>
        <p:spPr>
          <a:xfrm>
            <a:off x="571500" y="1489472"/>
            <a:ext cx="1551840" cy="578644"/>
          </a:xfrm>
          <a:prstGeom prst="rect"/>
          <a:solidFill>
            <a:srgbClr val="1A237E"/>
          </a:solidFill>
        </p:spPr>
      </p:sp>
      <p:sp>
        <p:nvSpPr>
          <p:cNvPr id="1048612" name="Text 3"/>
          <p:cNvSpPr/>
          <p:nvPr/>
        </p:nvSpPr>
        <p:spPr>
          <a:xfrm>
            <a:off x="571500" y="1600613"/>
            <a:ext cx="1551840" cy="356362"/>
          </a:xfrm>
          <a:prstGeom prst="rect"/>
          <a:noFill/>
        </p:spPr>
        <p:txBody>
          <a:bodyPr anchor="ctr" bIns="8509" lIns="212598" rIns="212598" rtlCol="0" tIns="170053" wrap="square">
            <a:spAutoFit/>
          </a:bodyPr>
          <a:p>
            <a:pPr algn="l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Component</a:t>
            </a:r>
            <a:endParaRPr dirty="0" sz="1200" lang="en-US"/>
          </a:p>
        </p:txBody>
      </p:sp>
      <p:sp>
        <p:nvSpPr>
          <p:cNvPr id="1048613" name="Shape 4"/>
          <p:cNvSpPr/>
          <p:nvPr/>
        </p:nvSpPr>
        <p:spPr>
          <a:xfrm>
            <a:off x="2123340" y="1489472"/>
            <a:ext cx="1863765" cy="578644"/>
          </a:xfrm>
          <a:prstGeom prst="rect"/>
          <a:solidFill>
            <a:srgbClr val="1A237E"/>
          </a:solidFill>
        </p:spPr>
      </p:sp>
      <p:sp>
        <p:nvSpPr>
          <p:cNvPr id="1048614" name="Text 5"/>
          <p:cNvSpPr/>
          <p:nvPr/>
        </p:nvSpPr>
        <p:spPr>
          <a:xfrm>
            <a:off x="2123340" y="1600613"/>
            <a:ext cx="1863765" cy="356362"/>
          </a:xfrm>
          <a:prstGeom prst="rect"/>
          <a:noFill/>
        </p:spPr>
        <p:txBody>
          <a:bodyPr anchor="ctr" bIns="8509" lIns="212598" rIns="212598" rtlCol="0" tIns="170053" wrap="square">
            <a:spAutoFit/>
          </a:bodyPr>
          <a:p>
            <a:pPr algn="l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Technology</a:t>
            </a:r>
            <a:endParaRPr dirty="0" sz="1200" lang="en-US"/>
          </a:p>
        </p:txBody>
      </p:sp>
      <p:sp>
        <p:nvSpPr>
          <p:cNvPr id="1048615" name="Shape 6"/>
          <p:cNvSpPr/>
          <p:nvPr/>
        </p:nvSpPr>
        <p:spPr>
          <a:xfrm>
            <a:off x="3987105" y="1489472"/>
            <a:ext cx="4585395" cy="578644"/>
          </a:xfrm>
          <a:prstGeom prst="rect"/>
          <a:solidFill>
            <a:srgbClr val="1A237E"/>
          </a:solidFill>
        </p:spPr>
      </p:sp>
      <p:sp>
        <p:nvSpPr>
          <p:cNvPr id="1048616" name="Text 7"/>
          <p:cNvSpPr/>
          <p:nvPr/>
        </p:nvSpPr>
        <p:spPr>
          <a:xfrm>
            <a:off x="3987105" y="1600613"/>
            <a:ext cx="4585395" cy="356362"/>
          </a:xfrm>
          <a:prstGeom prst="rect"/>
          <a:noFill/>
        </p:spPr>
        <p:txBody>
          <a:bodyPr anchor="ctr" bIns="8509" lIns="212598" rIns="212598" rtlCol="0" tIns="170053" wrap="square">
            <a:spAutoFit/>
          </a:bodyPr>
          <a:p>
            <a:pPr algn="l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Purpose</a:t>
            </a:r>
            <a:endParaRPr dirty="0" sz="1200" lang="en-US"/>
          </a:p>
        </p:txBody>
      </p:sp>
      <p:pic>
        <p:nvPicPr>
          <p:cNvPr id="2097158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750094" y="2303859"/>
            <a:ext cx="171450" cy="142875"/>
          </a:xfrm>
          <a:prstGeom prst="rect"/>
        </p:spPr>
      </p:pic>
      <p:sp>
        <p:nvSpPr>
          <p:cNvPr id="1048617" name="Text 8"/>
          <p:cNvSpPr/>
          <p:nvPr/>
        </p:nvSpPr>
        <p:spPr>
          <a:xfrm>
            <a:off x="1028700" y="2288679"/>
            <a:ext cx="558800" cy="139700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buNone/>
            </a:pPr>
            <a:r>
              <a:rPr b="1" dirty="0" sz="1000" lang="en-US">
                <a:solidFill>
                  <a:srgbClr val="2E7D3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Language</a:t>
            </a:r>
            <a:endParaRPr dirty="0" sz="1000" lang="en-US"/>
          </a:p>
        </p:txBody>
      </p:sp>
      <p:sp>
        <p:nvSpPr>
          <p:cNvPr id="1048618" name="Text 9"/>
          <p:cNvSpPr/>
          <p:nvPr/>
        </p:nvSpPr>
        <p:spPr>
          <a:xfrm>
            <a:off x="2123340" y="2167525"/>
            <a:ext cx="1863765" cy="301245"/>
          </a:xfrm>
          <a:prstGeom prst="rect"/>
          <a:noFill/>
        </p:spPr>
        <p:txBody>
          <a:bodyPr anchor="ctr" bIns="8509" lIns="212598" rIns="212598" rtlCol="0" tIns="153035" wrap="square">
            <a:spAutoFit/>
          </a:bodyPr>
          <a:p>
            <a:pPr algn="l" indent="0" marL="0">
              <a:buNone/>
            </a:pPr>
            <a:r>
              <a:rPr dirty="0" sz="1000" lang="en-US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Kotlin</a:t>
            </a:r>
            <a:endParaRPr dirty="0" sz="1000" lang="en-US"/>
          </a:p>
        </p:txBody>
      </p:sp>
      <p:sp>
        <p:nvSpPr>
          <p:cNvPr id="1048619" name="Text 10"/>
          <p:cNvSpPr/>
          <p:nvPr/>
        </p:nvSpPr>
        <p:spPr>
          <a:xfrm>
            <a:off x="3987105" y="2167525"/>
            <a:ext cx="4585395" cy="301245"/>
          </a:xfrm>
          <a:prstGeom prst="rect"/>
          <a:noFill/>
        </p:spPr>
        <p:txBody>
          <a:bodyPr anchor="ctr" bIns="8509" lIns="212598" rIns="212598" rtlCol="0" tIns="153035" wrap="square">
            <a:spAutoFit/>
          </a:bodyPr>
          <a:p>
            <a:pPr algn="l" indent="0" marL="0">
              <a:buNone/>
            </a:pPr>
            <a:r>
              <a:rPr dirty="0" sz="10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language with Coroutines &amp; Flow for async tasks</a:t>
            </a:r>
            <a:endParaRPr dirty="0" sz="1050" lang="en-US"/>
          </a:p>
        </p:txBody>
      </p:sp>
      <p:sp>
        <p:nvSpPr>
          <p:cNvPr id="1048620" name="Shape 11"/>
          <p:cNvSpPr/>
          <p:nvPr/>
        </p:nvSpPr>
        <p:spPr>
          <a:xfrm>
            <a:off x="571500" y="2568178"/>
            <a:ext cx="8001000" cy="500063"/>
          </a:xfrm>
          <a:prstGeom prst="rect"/>
          <a:solidFill>
            <a:srgbClr val="2E7D32">
              <a:alpha val="5000"/>
            </a:srgbClr>
          </a:solidFill>
        </p:spPr>
      </p:sp>
      <p:pic>
        <p:nvPicPr>
          <p:cNvPr id="2097159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750094" y="2803922"/>
            <a:ext cx="171450" cy="142875"/>
          </a:xfrm>
          <a:prstGeom prst="rect"/>
        </p:spPr>
      </p:pic>
      <p:sp>
        <p:nvSpPr>
          <p:cNvPr id="1048621" name="Text 12"/>
          <p:cNvSpPr/>
          <p:nvPr/>
        </p:nvSpPr>
        <p:spPr>
          <a:xfrm>
            <a:off x="1028700" y="2788741"/>
            <a:ext cx="203200" cy="139701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buNone/>
            </a:pPr>
            <a:r>
              <a:rPr b="1" dirty="0" sz="1000" lang="en-US">
                <a:solidFill>
                  <a:srgbClr val="2E7D3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</a:t>
            </a:r>
            <a:endParaRPr dirty="0" sz="1000" lang="en-US"/>
          </a:p>
        </p:txBody>
      </p:sp>
      <p:sp>
        <p:nvSpPr>
          <p:cNvPr id="1048622" name="Text 13"/>
          <p:cNvSpPr/>
          <p:nvPr/>
        </p:nvSpPr>
        <p:spPr>
          <a:xfrm>
            <a:off x="2123340" y="2667587"/>
            <a:ext cx="1863765" cy="301245"/>
          </a:xfrm>
          <a:prstGeom prst="rect"/>
          <a:noFill/>
        </p:spPr>
        <p:txBody>
          <a:bodyPr anchor="ctr" bIns="8509" lIns="212598" rIns="212598" rtlCol="0" tIns="153035" wrap="square">
            <a:spAutoFit/>
          </a:bodyPr>
          <a:p>
            <a:pPr algn="l" indent="0" marL="0">
              <a:buNone/>
            </a:pPr>
            <a:r>
              <a:rPr dirty="0" sz="1000" lang="en-US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Android Studio</a:t>
            </a:r>
            <a:endParaRPr dirty="0" sz="1000" lang="en-US"/>
          </a:p>
        </p:txBody>
      </p:sp>
      <p:sp>
        <p:nvSpPr>
          <p:cNvPr id="1048623" name="Text 14"/>
          <p:cNvSpPr/>
          <p:nvPr/>
        </p:nvSpPr>
        <p:spPr>
          <a:xfrm>
            <a:off x="3987105" y="2667587"/>
            <a:ext cx="4585395" cy="301245"/>
          </a:xfrm>
          <a:prstGeom prst="rect"/>
          <a:noFill/>
        </p:spPr>
        <p:txBody>
          <a:bodyPr anchor="ctr" bIns="8509" lIns="212598" rIns="212598" rtlCol="0" tIns="153035" wrap="square">
            <a:spAutoFit/>
          </a:bodyPr>
          <a:p>
            <a:pPr algn="l" indent="0" marL="0">
              <a:buNone/>
            </a:pPr>
            <a:r>
              <a:rPr dirty="0" sz="10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development environment for Android</a:t>
            </a:r>
            <a:endParaRPr dirty="0" sz="1050" lang="en-US"/>
          </a:p>
        </p:txBody>
      </p:sp>
      <p:pic>
        <p:nvPicPr>
          <p:cNvPr id="2097160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750094" y="3303984"/>
            <a:ext cx="171450" cy="142875"/>
          </a:xfrm>
          <a:prstGeom prst="rect"/>
        </p:spPr>
      </p:pic>
      <p:sp>
        <p:nvSpPr>
          <p:cNvPr id="1048624" name="Text 15"/>
          <p:cNvSpPr/>
          <p:nvPr/>
        </p:nvSpPr>
        <p:spPr>
          <a:xfrm>
            <a:off x="1028700" y="3288804"/>
            <a:ext cx="520701" cy="139701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buNone/>
            </a:pPr>
            <a:r>
              <a:rPr b="1" dirty="0" sz="1000" lang="en-US">
                <a:solidFill>
                  <a:srgbClr val="2E7D3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</a:t>
            </a:r>
            <a:endParaRPr dirty="0" sz="1000" lang="en-US"/>
          </a:p>
        </p:txBody>
      </p:sp>
      <p:sp>
        <p:nvSpPr>
          <p:cNvPr id="1048625" name="Text 16"/>
          <p:cNvSpPr/>
          <p:nvPr/>
        </p:nvSpPr>
        <p:spPr>
          <a:xfrm>
            <a:off x="2123340" y="3167650"/>
            <a:ext cx="1863765" cy="301245"/>
          </a:xfrm>
          <a:prstGeom prst="rect"/>
          <a:noFill/>
        </p:spPr>
        <p:txBody>
          <a:bodyPr anchor="ctr" bIns="8509" lIns="212598" rIns="212598" rtlCol="0" tIns="153035" wrap="square">
            <a:spAutoFit/>
          </a:bodyPr>
          <a:p>
            <a:pPr algn="l" indent="0" marL="0">
              <a:buNone/>
            </a:pPr>
            <a:r>
              <a:rPr dirty="0" sz="1000" lang="en-US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Room (SQLite)</a:t>
            </a:r>
            <a:endParaRPr dirty="0" sz="1000" lang="en-US"/>
          </a:p>
        </p:txBody>
      </p:sp>
      <p:sp>
        <p:nvSpPr>
          <p:cNvPr id="1048626" name="Text 17"/>
          <p:cNvSpPr/>
          <p:nvPr/>
        </p:nvSpPr>
        <p:spPr>
          <a:xfrm>
            <a:off x="3987105" y="3167650"/>
            <a:ext cx="4585395" cy="301245"/>
          </a:xfrm>
          <a:prstGeom prst="rect"/>
          <a:noFill/>
        </p:spPr>
        <p:txBody>
          <a:bodyPr anchor="ctr" bIns="8509" lIns="212598" rIns="212598" rtlCol="0" tIns="153035" wrap="square">
            <a:spAutoFit/>
          </a:bodyPr>
          <a:p>
            <a:pPr algn="l" indent="0" marL="0">
              <a:buNone/>
            </a:pPr>
            <a:r>
              <a:rPr dirty="0" sz="10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persistence layer for offline data access</a:t>
            </a:r>
            <a:endParaRPr dirty="0" sz="1050" lang="en-US"/>
          </a:p>
        </p:txBody>
      </p:sp>
      <p:sp>
        <p:nvSpPr>
          <p:cNvPr id="1048627" name="Shape 18"/>
          <p:cNvSpPr/>
          <p:nvPr/>
        </p:nvSpPr>
        <p:spPr>
          <a:xfrm>
            <a:off x="571500" y="3568303"/>
            <a:ext cx="8001000" cy="500063"/>
          </a:xfrm>
          <a:prstGeom prst="rect"/>
          <a:solidFill>
            <a:srgbClr val="2E7D32">
              <a:alpha val="5000"/>
            </a:srgbClr>
          </a:solidFill>
        </p:spPr>
      </p:sp>
      <p:pic>
        <p:nvPicPr>
          <p:cNvPr id="2097161" name="Image 4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750094" y="3804047"/>
            <a:ext cx="171450" cy="142875"/>
          </a:xfrm>
          <a:prstGeom prst="rect"/>
        </p:spPr>
      </p:pic>
      <p:sp>
        <p:nvSpPr>
          <p:cNvPr id="1048628" name="Text 19"/>
          <p:cNvSpPr/>
          <p:nvPr/>
        </p:nvSpPr>
        <p:spPr>
          <a:xfrm>
            <a:off x="1028700" y="3788866"/>
            <a:ext cx="317500" cy="139701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buNone/>
            </a:pPr>
            <a:r>
              <a:rPr b="1" dirty="0" sz="1000" lang="en-US">
                <a:solidFill>
                  <a:srgbClr val="2E7D3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UI/UX</a:t>
            </a:r>
            <a:endParaRPr dirty="0" sz="1000" lang="en-US"/>
          </a:p>
        </p:txBody>
      </p:sp>
      <p:sp>
        <p:nvSpPr>
          <p:cNvPr id="1048629" name="Text 20"/>
          <p:cNvSpPr/>
          <p:nvPr/>
        </p:nvSpPr>
        <p:spPr>
          <a:xfrm>
            <a:off x="2123340" y="3667712"/>
            <a:ext cx="1863765" cy="301245"/>
          </a:xfrm>
          <a:prstGeom prst="rect"/>
          <a:noFill/>
        </p:spPr>
        <p:txBody>
          <a:bodyPr anchor="ctr" bIns="8509" lIns="212598" rIns="212598" rtlCol="0" tIns="153035" wrap="square">
            <a:spAutoFit/>
          </a:bodyPr>
          <a:p>
            <a:pPr algn="l" indent="0" marL="0">
              <a:buNone/>
            </a:pPr>
            <a:r>
              <a:rPr dirty="0" sz="1000" lang="en-US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Material Design 3</a:t>
            </a:r>
            <a:endParaRPr dirty="0" sz="1000" lang="en-US"/>
          </a:p>
        </p:txBody>
      </p:sp>
      <p:sp>
        <p:nvSpPr>
          <p:cNvPr id="1048630" name="Text 21"/>
          <p:cNvSpPr/>
          <p:nvPr/>
        </p:nvSpPr>
        <p:spPr>
          <a:xfrm>
            <a:off x="3987105" y="3667712"/>
            <a:ext cx="4585395" cy="301245"/>
          </a:xfrm>
          <a:prstGeom prst="rect"/>
          <a:noFill/>
        </p:spPr>
        <p:txBody>
          <a:bodyPr anchor="ctr" bIns="8509" lIns="212598" rIns="212598" rtlCol="0" tIns="153035" wrap="square">
            <a:spAutoFit/>
          </a:bodyPr>
          <a:p>
            <a:pPr algn="l" indent="0" marL="0">
              <a:buNone/>
            </a:pPr>
            <a:r>
              <a:rPr dirty="0" sz="10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design system and responsive components</a:t>
            </a:r>
            <a:endParaRPr dirty="0" sz="1050" lang="en-US"/>
          </a:p>
        </p:txBody>
      </p:sp>
      <p:pic>
        <p:nvPicPr>
          <p:cNvPr id="2097162" name="Image 5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750094" y="4304109"/>
            <a:ext cx="171450" cy="142875"/>
          </a:xfrm>
          <a:prstGeom prst="rect"/>
        </p:spPr>
      </p:pic>
      <p:sp>
        <p:nvSpPr>
          <p:cNvPr id="1048631" name="Text 22"/>
          <p:cNvSpPr/>
          <p:nvPr/>
        </p:nvSpPr>
        <p:spPr>
          <a:xfrm>
            <a:off x="1028700" y="4288929"/>
            <a:ext cx="342900" cy="139701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buNone/>
            </a:pPr>
            <a:r>
              <a:rPr b="1" dirty="0" sz="1000" lang="en-US">
                <a:solidFill>
                  <a:srgbClr val="2E7D3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Media</a:t>
            </a:r>
            <a:endParaRPr dirty="0" sz="1000" lang="en-US"/>
          </a:p>
        </p:txBody>
      </p:sp>
      <p:sp>
        <p:nvSpPr>
          <p:cNvPr id="1048632" name="Text 23"/>
          <p:cNvSpPr/>
          <p:nvPr/>
        </p:nvSpPr>
        <p:spPr>
          <a:xfrm>
            <a:off x="2123340" y="4167775"/>
            <a:ext cx="1863765" cy="301245"/>
          </a:xfrm>
          <a:prstGeom prst="rect"/>
          <a:noFill/>
        </p:spPr>
        <p:txBody>
          <a:bodyPr anchor="ctr" bIns="8509" lIns="212598" rIns="212598" rtlCol="0" tIns="153035" wrap="square">
            <a:spAutoFit/>
          </a:bodyPr>
          <a:p>
            <a:pPr algn="l" indent="0" marL="0">
              <a:buNone/>
            </a:pPr>
            <a:r>
              <a:rPr dirty="0" sz="1000" lang="en-US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Coil</a:t>
            </a:r>
            <a:endParaRPr dirty="0" sz="1000" lang="en-US"/>
          </a:p>
        </p:txBody>
      </p:sp>
      <p:sp>
        <p:nvSpPr>
          <p:cNvPr id="1048633" name="Text 24"/>
          <p:cNvSpPr/>
          <p:nvPr/>
        </p:nvSpPr>
        <p:spPr>
          <a:xfrm>
            <a:off x="3987105" y="4167775"/>
            <a:ext cx="4585395" cy="301245"/>
          </a:xfrm>
          <a:prstGeom prst="rect"/>
          <a:noFill/>
        </p:spPr>
        <p:txBody>
          <a:bodyPr anchor="ctr" bIns="8509" lIns="212598" rIns="212598" rtlCol="0" tIns="153035" wrap="square">
            <a:spAutoFit/>
          </a:bodyPr>
          <a:p>
            <a:pPr algn="l" indent="0" marL="0">
              <a:buNone/>
            </a:pPr>
            <a:r>
              <a:rPr dirty="0" sz="10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Lightweight image loading library for property photos</a:t>
            </a:r>
            <a:endParaRPr dirty="0" sz="1050" lang="en-US"/>
          </a:p>
        </p:txBody>
      </p:sp>
      <p:sp>
        <p:nvSpPr>
          <p:cNvPr id="1048634" name="Shape 25"/>
          <p:cNvSpPr/>
          <p:nvPr/>
        </p:nvSpPr>
        <p:spPr>
          <a:xfrm>
            <a:off x="571500" y="4568428"/>
            <a:ext cx="8001000" cy="500063"/>
          </a:xfrm>
          <a:prstGeom prst="rect"/>
          <a:solidFill>
            <a:srgbClr val="2E7D32">
              <a:alpha val="5000"/>
            </a:srgbClr>
          </a:solidFill>
        </p:spPr>
      </p:sp>
      <p:pic>
        <p:nvPicPr>
          <p:cNvPr id="2097163" name="Image 6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>
            <a:off x="750094" y="4804172"/>
            <a:ext cx="171450" cy="142875"/>
          </a:xfrm>
          <a:prstGeom prst="rect"/>
        </p:spPr>
      </p:pic>
      <p:sp>
        <p:nvSpPr>
          <p:cNvPr id="1048635" name="Text 26"/>
          <p:cNvSpPr/>
          <p:nvPr/>
        </p:nvSpPr>
        <p:spPr>
          <a:xfrm>
            <a:off x="1028700" y="4788991"/>
            <a:ext cx="596901" cy="139701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buNone/>
            </a:pPr>
            <a:r>
              <a:rPr b="1" dirty="0" sz="1000" lang="en-US">
                <a:solidFill>
                  <a:srgbClr val="2E7D3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Navigation</a:t>
            </a:r>
            <a:endParaRPr dirty="0" sz="1000" lang="en-US"/>
          </a:p>
        </p:txBody>
      </p:sp>
      <p:sp>
        <p:nvSpPr>
          <p:cNvPr id="1048636" name="Text 27"/>
          <p:cNvSpPr/>
          <p:nvPr/>
        </p:nvSpPr>
        <p:spPr>
          <a:xfrm>
            <a:off x="2123340" y="4667837"/>
            <a:ext cx="1863765" cy="301245"/>
          </a:xfrm>
          <a:prstGeom prst="rect"/>
          <a:noFill/>
        </p:spPr>
        <p:txBody>
          <a:bodyPr anchor="ctr" bIns="8509" lIns="212598" rIns="212598" rtlCol="0" tIns="153035" wrap="square">
            <a:spAutoFit/>
          </a:bodyPr>
          <a:p>
            <a:pPr algn="l" indent="0" marL="0">
              <a:buNone/>
            </a:pPr>
            <a:r>
              <a:rPr dirty="0" sz="1000" lang="en-US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Jetpack Navigation</a:t>
            </a:r>
            <a:endParaRPr dirty="0" sz="1000" lang="en-US"/>
          </a:p>
        </p:txBody>
      </p:sp>
      <p:sp>
        <p:nvSpPr>
          <p:cNvPr id="1048637" name="Text 28"/>
          <p:cNvSpPr/>
          <p:nvPr/>
        </p:nvSpPr>
        <p:spPr>
          <a:xfrm>
            <a:off x="3987105" y="4667837"/>
            <a:ext cx="4585395" cy="301245"/>
          </a:xfrm>
          <a:prstGeom prst="rect"/>
          <a:noFill/>
        </p:spPr>
        <p:txBody>
          <a:bodyPr anchor="ctr" bIns="8509" lIns="212598" rIns="212598" rtlCol="0" tIns="153035" wrap="square">
            <a:spAutoFit/>
          </a:bodyPr>
          <a:p>
            <a:pPr algn="l" indent="0" marL="0">
              <a:buNone/>
            </a:pPr>
            <a:r>
              <a:rPr dirty="0" sz="10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Standardized screen flow and fragment management</a:t>
            </a:r>
            <a:endParaRPr dirty="0" sz="105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9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48674" name="Shape 0"/>
          <p:cNvSpPr/>
          <p:nvPr/>
        </p:nvSpPr>
        <p:spPr>
          <a:xfrm>
            <a:off x="0" y="0"/>
            <a:ext cx="9144000" cy="917972"/>
          </a:xfrm>
          <a:prstGeom prst="rect"/>
          <a:solidFill>
            <a:srgbClr val="1A237E"/>
          </a:solidFill>
        </p:spPr>
      </p:sp>
      <p:sp>
        <p:nvSpPr>
          <p:cNvPr id="1048675" name="Text 1"/>
          <p:cNvSpPr/>
          <p:nvPr/>
        </p:nvSpPr>
        <p:spPr>
          <a:xfrm>
            <a:off x="571500" y="285750"/>
            <a:ext cx="8572500" cy="3556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2450" lang="en-US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Database Schema &amp; Relationships</a:t>
            </a:r>
            <a:endParaRPr dirty="0" sz="2450" lang="en-US"/>
          </a:p>
        </p:txBody>
      </p:sp>
      <p:sp>
        <p:nvSpPr>
          <p:cNvPr id="1048676" name="Text 2"/>
          <p:cNvSpPr/>
          <p:nvPr/>
        </p:nvSpPr>
        <p:spPr>
          <a:xfrm>
            <a:off x="571500" y="1464887"/>
            <a:ext cx="1534120" cy="241301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1600" lang="en-US">
                <a:solidFill>
                  <a:srgbClr val="2E7D3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Core Entities</a:t>
            </a:r>
            <a:endParaRPr dirty="0" sz="1600" lang="en-US"/>
          </a:p>
        </p:txBody>
      </p:sp>
      <p:sp>
        <p:nvSpPr>
          <p:cNvPr id="1048677" name="Text 3"/>
          <p:cNvSpPr/>
          <p:nvPr/>
        </p:nvSpPr>
        <p:spPr>
          <a:xfrm>
            <a:off x="728663" y="2107825"/>
            <a:ext cx="1679423" cy="139701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1000" lang="en-US">
                <a:solidFill>
                  <a:srgbClr val="1A237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UserEntity</a:t>
            </a:r>
            <a:endParaRPr dirty="0" sz="1000" lang="en-US"/>
          </a:p>
        </p:txBody>
      </p:sp>
      <p:sp>
        <p:nvSpPr>
          <p:cNvPr id="1048678" name="Text 4"/>
          <p:cNvSpPr/>
          <p:nvPr/>
        </p:nvSpPr>
        <p:spPr>
          <a:xfrm>
            <a:off x="728663" y="2352498"/>
            <a:ext cx="1679423" cy="127001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lnSpc>
                <a:spcPct val="112000"/>
              </a:lnSpc>
              <a:buNone/>
            </a:pPr>
            <a:r>
              <a:rPr dirty="0" sz="8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ID, Full Name, Email, Password, Role</a:t>
            </a:r>
            <a:endParaRPr dirty="0" sz="850" lang="en-US"/>
          </a:p>
        </p:txBody>
      </p:sp>
      <p:sp>
        <p:nvSpPr>
          <p:cNvPr id="1048679" name="Text 5"/>
          <p:cNvSpPr/>
          <p:nvPr/>
        </p:nvSpPr>
        <p:spPr>
          <a:xfrm>
            <a:off x="2865286" y="2107825"/>
            <a:ext cx="1679423" cy="139701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1000" lang="en-US">
                <a:solidFill>
                  <a:srgbClr val="1A237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ListingEntity</a:t>
            </a:r>
            <a:endParaRPr dirty="0" sz="1000" lang="en-US"/>
          </a:p>
        </p:txBody>
      </p:sp>
      <p:sp>
        <p:nvSpPr>
          <p:cNvPr id="1048680" name="Text 6"/>
          <p:cNvSpPr/>
          <p:nvPr/>
        </p:nvSpPr>
        <p:spPr>
          <a:xfrm>
            <a:off x="2865286" y="2352498"/>
            <a:ext cx="1679423" cy="254001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lnSpc>
                <a:spcPct val="112000"/>
              </a:lnSpc>
              <a:buNone/>
            </a:pPr>
            <a:r>
              <a:rPr dirty="0" sz="8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Title, Price, Location, Amenities, ImageURL, Status</a:t>
            </a:r>
            <a:endParaRPr dirty="0" sz="850" lang="en-US"/>
          </a:p>
        </p:txBody>
      </p:sp>
      <p:sp>
        <p:nvSpPr>
          <p:cNvPr id="1048681" name="Text 7"/>
          <p:cNvSpPr/>
          <p:nvPr/>
        </p:nvSpPr>
        <p:spPr>
          <a:xfrm>
            <a:off x="728663" y="3565150"/>
            <a:ext cx="1679423" cy="1397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1000" lang="en-US">
                <a:solidFill>
                  <a:srgbClr val="1A237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ReservationEntity</a:t>
            </a:r>
            <a:endParaRPr dirty="0" sz="1000" lang="en-US"/>
          </a:p>
        </p:txBody>
      </p:sp>
      <p:sp>
        <p:nvSpPr>
          <p:cNvPr id="1048682" name="Text 8"/>
          <p:cNvSpPr/>
          <p:nvPr/>
        </p:nvSpPr>
        <p:spPr>
          <a:xfrm>
            <a:off x="728663" y="3809823"/>
            <a:ext cx="1679423" cy="1270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lnSpc>
                <a:spcPct val="112000"/>
              </a:lnSpc>
              <a:buNone/>
            </a:pPr>
            <a:r>
              <a:rPr dirty="0" sz="8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UserID, ListingID, Status, Timestamp</a:t>
            </a:r>
            <a:endParaRPr dirty="0" sz="850" lang="en-US"/>
          </a:p>
        </p:txBody>
      </p:sp>
      <p:sp>
        <p:nvSpPr>
          <p:cNvPr id="1048683" name="Text 9"/>
          <p:cNvSpPr/>
          <p:nvPr/>
        </p:nvSpPr>
        <p:spPr>
          <a:xfrm>
            <a:off x="2865286" y="3565150"/>
            <a:ext cx="1679423" cy="1397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1000" lang="en-US">
                <a:solidFill>
                  <a:srgbClr val="1A237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MessageEntity</a:t>
            </a:r>
            <a:endParaRPr dirty="0" sz="1000" lang="en-US"/>
          </a:p>
        </p:txBody>
      </p:sp>
      <p:sp>
        <p:nvSpPr>
          <p:cNvPr id="1048684" name="Text 10"/>
          <p:cNvSpPr/>
          <p:nvPr/>
        </p:nvSpPr>
        <p:spPr>
          <a:xfrm>
            <a:off x="2865286" y="3809823"/>
            <a:ext cx="1679423" cy="2540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lnSpc>
                <a:spcPct val="112000"/>
              </a:lnSpc>
              <a:buNone/>
            </a:pPr>
            <a:r>
              <a:rPr dirty="0" sz="8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SenderID, ReceiverID, Content, Timestamp</a:t>
            </a:r>
            <a:endParaRPr dirty="0" sz="850" lang="en-US"/>
          </a:p>
        </p:txBody>
      </p:sp>
      <p:sp>
        <p:nvSpPr>
          <p:cNvPr id="1048685" name="Text 11"/>
          <p:cNvSpPr/>
          <p:nvPr/>
        </p:nvSpPr>
        <p:spPr>
          <a:xfrm>
            <a:off x="5130496" y="1464887"/>
            <a:ext cx="2259211" cy="241301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1600" lang="en-US">
                <a:solidFill>
                  <a:srgbClr val="2E7D3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Relationships</a:t>
            </a:r>
            <a:endParaRPr dirty="0" sz="1600" lang="en-US"/>
          </a:p>
        </p:txBody>
      </p:sp>
      <p:pic>
        <p:nvPicPr>
          <p:cNvPr id="2097170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5130496" y="2038173"/>
            <a:ext cx="214313" cy="171450"/>
          </a:xfrm>
          <a:prstGeom prst="rect"/>
        </p:spPr>
      </p:pic>
      <p:sp>
        <p:nvSpPr>
          <p:cNvPr id="1048686" name="Text 12"/>
          <p:cNvSpPr/>
          <p:nvPr/>
        </p:nvSpPr>
        <p:spPr>
          <a:xfrm>
            <a:off x="5487684" y="1950662"/>
            <a:ext cx="3084816" cy="2794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1000" lang="en-US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One-to-Many:</a:t>
            </a:r>
            <a:r>
              <a:rPr dirty="0" sz="10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One user can manage multiple reservations.</a:t>
            </a:r>
            <a:endParaRPr dirty="0" sz="1000" lang="en-US"/>
          </a:p>
        </p:txBody>
      </p:sp>
      <p:pic>
        <p:nvPicPr>
          <p:cNvPr id="2097171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5130496" y="2563239"/>
            <a:ext cx="192881" cy="171450"/>
          </a:xfrm>
          <a:prstGeom prst="rect"/>
        </p:spPr>
      </p:pic>
      <p:sp>
        <p:nvSpPr>
          <p:cNvPr id="1048687" name="Text 13"/>
          <p:cNvSpPr/>
          <p:nvPr/>
        </p:nvSpPr>
        <p:spPr>
          <a:xfrm>
            <a:off x="5466252" y="2475728"/>
            <a:ext cx="3106248" cy="1397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1000" lang="en-US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One-to-One:</a:t>
            </a:r>
            <a:r>
              <a:rPr dirty="0" sz="10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Each reservation maps to a specific listing.</a:t>
            </a:r>
            <a:endParaRPr dirty="0" sz="1000" lang="en-US"/>
          </a:p>
        </p:txBody>
      </p:sp>
      <p:pic>
        <p:nvPicPr>
          <p:cNvPr id="2097172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5130496" y="3088305"/>
            <a:ext cx="214313" cy="171450"/>
          </a:xfrm>
          <a:prstGeom prst="rect"/>
        </p:spPr>
      </p:pic>
      <p:sp>
        <p:nvSpPr>
          <p:cNvPr id="1048688" name="Text 14"/>
          <p:cNvSpPr/>
          <p:nvPr/>
        </p:nvSpPr>
        <p:spPr>
          <a:xfrm>
            <a:off x="5487684" y="3000794"/>
            <a:ext cx="3084816" cy="279401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1000" lang="en-US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Many-to-Many:</a:t>
            </a:r>
            <a:r>
              <a:rPr dirty="0" sz="10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Users exchange messages across listings.</a:t>
            </a:r>
            <a:endParaRPr dirty="0" sz="1000" lang="en-US"/>
          </a:p>
        </p:txBody>
      </p:sp>
      <p:sp>
        <p:nvSpPr>
          <p:cNvPr id="1048689" name="Shape 15"/>
          <p:cNvSpPr/>
          <p:nvPr/>
        </p:nvSpPr>
        <p:spPr>
          <a:xfrm>
            <a:off x="5130496" y="3561578"/>
            <a:ext cx="3442004" cy="878681"/>
          </a:xfrm>
          <a:prstGeom prst="rect"/>
          <a:solidFill>
            <a:srgbClr val="F5F5F5"/>
          </a:solidFill>
        </p:spPr>
      </p:sp>
      <p:sp>
        <p:nvSpPr>
          <p:cNvPr id="1048690" name="Shape 16"/>
          <p:cNvSpPr/>
          <p:nvPr/>
        </p:nvSpPr>
        <p:spPr>
          <a:xfrm>
            <a:off x="5130496" y="3561578"/>
            <a:ext cx="42863" cy="878681"/>
          </a:xfrm>
          <a:prstGeom prst="rect"/>
          <a:solidFill>
            <a:srgbClr val="1A237E"/>
          </a:solidFill>
        </p:spPr>
      </p:sp>
      <p:sp>
        <p:nvSpPr>
          <p:cNvPr id="1048691" name="Text 17"/>
          <p:cNvSpPr/>
          <p:nvPr/>
        </p:nvSpPr>
        <p:spPr>
          <a:xfrm>
            <a:off x="5309090" y="3740172"/>
            <a:ext cx="3084816" cy="139701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1000" lang="en-US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Room Persistence Library</a:t>
            </a:r>
            <a:endParaRPr dirty="0" sz="1000" lang="en-US"/>
          </a:p>
        </p:txBody>
      </p:sp>
      <p:sp>
        <p:nvSpPr>
          <p:cNvPr id="1048692" name="Text 18"/>
          <p:cNvSpPr/>
          <p:nvPr/>
        </p:nvSpPr>
        <p:spPr>
          <a:xfrm>
            <a:off x="5309090" y="4027708"/>
            <a:ext cx="3084816" cy="228601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dirty="0" sz="8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SQLite storage ensures offline functionality and high-performance data retrieval for a seamless mobile experience.</a:t>
            </a:r>
            <a:endParaRPr dirty="0" sz="85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8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48713" name="Shape 0"/>
          <p:cNvSpPr/>
          <p:nvPr/>
        </p:nvSpPr>
        <p:spPr>
          <a:xfrm>
            <a:off x="0" y="0"/>
            <a:ext cx="9144000" cy="917972"/>
          </a:xfrm>
          <a:prstGeom prst="rect"/>
          <a:solidFill>
            <a:srgbClr val="1A237E"/>
          </a:solidFill>
        </p:spPr>
      </p:sp>
      <p:sp>
        <p:nvSpPr>
          <p:cNvPr id="1048714" name="Text 1"/>
          <p:cNvSpPr/>
          <p:nvPr/>
        </p:nvSpPr>
        <p:spPr>
          <a:xfrm>
            <a:off x="571500" y="285750"/>
            <a:ext cx="8572500" cy="355600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l" indent="0" marL="0">
              <a:buNone/>
            </a:pPr>
            <a:r>
              <a:rPr b="1" dirty="0" sz="2450" lang="en-US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References</a:t>
            </a:r>
            <a:endParaRPr dirty="0" sz="2450" lang="en-US"/>
          </a:p>
        </p:txBody>
      </p:sp>
      <p:pic>
        <p:nvPicPr>
          <p:cNvPr id="2097179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000125" y="1503759"/>
            <a:ext cx="150019" cy="171450"/>
          </a:xfrm>
          <a:prstGeom prst="rect"/>
        </p:spPr>
      </p:pic>
      <p:sp>
        <p:nvSpPr>
          <p:cNvPr id="1048715" name="Text 2"/>
          <p:cNvSpPr/>
          <p:nvPr/>
        </p:nvSpPr>
        <p:spPr>
          <a:xfrm>
            <a:off x="1328738" y="1460897"/>
            <a:ext cx="5867400" cy="177801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lnSpc>
                <a:spcPct val="128000"/>
              </a:lnSpc>
              <a:buNone/>
            </a:pPr>
            <a:r>
              <a:rPr b="1" dirty="0" sz="1100" lang="en-US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Android Developers.</a:t>
            </a:r>
            <a:r>
              <a:rPr dirty="0" sz="11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(2026). </a:t>
            </a:r>
            <a:r>
              <a:rPr dirty="0" sz="1150" i="1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Components: MVVM Guide.</a:t>
            </a:r>
            <a:r>
              <a:rPr dirty="0" sz="11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developer.android.com</a:t>
            </a:r>
            <a:endParaRPr dirty="0" sz="1100" lang="en-US"/>
          </a:p>
        </p:txBody>
      </p:sp>
      <p:pic>
        <p:nvPicPr>
          <p:cNvPr id="2097180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1000125" y="1969526"/>
            <a:ext cx="214313" cy="171450"/>
          </a:xfrm>
          <a:prstGeom prst="rect"/>
        </p:spPr>
      </p:pic>
      <p:sp>
        <p:nvSpPr>
          <p:cNvPr id="1048716" name="Text 3"/>
          <p:cNvSpPr/>
          <p:nvPr/>
        </p:nvSpPr>
        <p:spPr>
          <a:xfrm>
            <a:off x="1393031" y="1926664"/>
            <a:ext cx="5689601" cy="177800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lnSpc>
                <a:spcPct val="128000"/>
              </a:lnSpc>
              <a:buNone/>
            </a:pPr>
            <a:r>
              <a:rPr b="1" dirty="0" sz="1100" lang="en-US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Kotlin Documentation.</a:t>
            </a:r>
            <a:r>
              <a:rPr dirty="0" sz="11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(2026). </a:t>
            </a:r>
            <a:r>
              <a:rPr dirty="0" sz="1150" i="1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Coroutines and Asynchronous Programming.</a:t>
            </a:r>
            <a:r>
              <a:rPr dirty="0" sz="11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kotlinlang.org</a:t>
            </a:r>
            <a:endParaRPr dirty="0" sz="1100" lang="en-US"/>
          </a:p>
        </p:txBody>
      </p:sp>
      <p:pic>
        <p:nvPicPr>
          <p:cNvPr id="2097181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1000125" y="2435293"/>
            <a:ext cx="171450" cy="171450"/>
          </a:xfrm>
          <a:prstGeom prst="rect"/>
        </p:spPr>
      </p:pic>
      <p:sp>
        <p:nvSpPr>
          <p:cNvPr id="1048717" name="Text 4"/>
          <p:cNvSpPr/>
          <p:nvPr/>
        </p:nvSpPr>
        <p:spPr>
          <a:xfrm>
            <a:off x="1350169" y="2392431"/>
            <a:ext cx="4914900" cy="177800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lnSpc>
                <a:spcPct val="128000"/>
              </a:lnSpc>
              <a:buNone/>
            </a:pPr>
            <a:r>
              <a:rPr b="1" dirty="0" sz="1100" lang="en-US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Google Material Design.</a:t>
            </a:r>
            <a:r>
              <a:rPr dirty="0" sz="11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(2026). </a:t>
            </a:r>
            <a:r>
              <a:rPr dirty="0" sz="1150" i="1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 3 Design Guidelines.</a:t>
            </a:r>
            <a:r>
              <a:rPr dirty="0" sz="11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m3.material.io</a:t>
            </a:r>
            <a:endParaRPr dirty="0" sz="1100" lang="en-US"/>
          </a:p>
        </p:txBody>
      </p:sp>
      <p:pic>
        <p:nvPicPr>
          <p:cNvPr id="2097182" name="Image 4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1000125" y="2901060"/>
            <a:ext cx="150019" cy="171450"/>
          </a:xfrm>
          <a:prstGeom prst="rect"/>
        </p:spPr>
      </p:pic>
      <p:sp>
        <p:nvSpPr>
          <p:cNvPr id="1048718" name="Text 5"/>
          <p:cNvSpPr/>
          <p:nvPr/>
        </p:nvSpPr>
        <p:spPr>
          <a:xfrm>
            <a:off x="1328738" y="2858198"/>
            <a:ext cx="4064000" cy="177800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lnSpc>
                <a:spcPct val="128000"/>
              </a:lnSpc>
              <a:buNone/>
            </a:pPr>
            <a:r>
              <a:rPr b="1" dirty="0" sz="1100" lang="en-US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SQLite.</a:t>
            </a:r>
            <a:r>
              <a:rPr dirty="0" sz="11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(2026). </a:t>
            </a:r>
            <a:r>
              <a:rPr dirty="0" sz="1150" i="1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Database Engine Documentation.</a:t>
            </a:r>
            <a:r>
              <a:rPr dirty="0" sz="11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sqlite.org</a:t>
            </a:r>
            <a:endParaRPr dirty="0" sz="1100" lang="en-US"/>
          </a:p>
        </p:txBody>
      </p:sp>
      <p:pic>
        <p:nvPicPr>
          <p:cNvPr id="2097183" name="Image 5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1000125" y="3366827"/>
            <a:ext cx="171450" cy="171450"/>
          </a:xfrm>
          <a:prstGeom prst="rect"/>
        </p:spPr>
      </p:pic>
      <p:sp>
        <p:nvSpPr>
          <p:cNvPr id="1048719" name="Text 6"/>
          <p:cNvSpPr/>
          <p:nvPr/>
        </p:nvSpPr>
        <p:spPr>
          <a:xfrm>
            <a:off x="1350169" y="3323965"/>
            <a:ext cx="4470400" cy="177800"/>
          </a:xfrm>
          <a:prstGeom prst="rect"/>
          <a:noFill/>
        </p:spPr>
        <p:txBody>
          <a:bodyPr anchor="t" bIns="0" lIns="0" rIns="0" rtlCol="0" tIns="0" wrap="none">
            <a:spAutoFit/>
          </a:bodyPr>
          <a:p>
            <a:pPr algn="l" indent="0" marL="0">
              <a:lnSpc>
                <a:spcPct val="128000"/>
              </a:lnSpc>
              <a:buNone/>
            </a:pPr>
            <a:r>
              <a:rPr b="1" dirty="0" sz="1100" lang="en-US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Botswana Accountancy College.</a:t>
            </a:r>
            <a:r>
              <a:rPr dirty="0" sz="1150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(2026). </a:t>
            </a:r>
            <a:r>
              <a:rPr dirty="0" sz="1150" i="1" lang="en-US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CSE201 Module Specification.</a:t>
            </a:r>
            <a:endParaRPr dirty="0" sz="1100" lang="en-US"/>
          </a:p>
        </p:txBody>
      </p:sp>
      <p:sp>
        <p:nvSpPr>
          <p:cNvPr id="1048720" name="Text 7"/>
          <p:cNvSpPr/>
          <p:nvPr/>
        </p:nvSpPr>
        <p:spPr>
          <a:xfrm>
            <a:off x="714375" y="4004044"/>
            <a:ext cx="7715250" cy="241301"/>
          </a:xfrm>
          <a:prstGeom prst="rect"/>
          <a:noFill/>
        </p:spPr>
        <p:txBody>
          <a:bodyPr anchor="t" bIns="0" lIns="0" rIns="0" rtlCol="0" tIns="0" wrap="square">
            <a:spAutoFit/>
          </a:bodyPr>
          <a:p>
            <a:pPr algn="ctr" indent="0" marL="0">
              <a:buNone/>
            </a:pPr>
            <a:r>
              <a:rPr b="1" dirty="0" sz="1600" lang="en-US">
                <a:solidFill>
                  <a:srgbClr val="2E7D3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THANK YOU FOR YOUR ATTENTION!</a:t>
            </a:r>
            <a:endParaRPr dirty="0" sz="16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PptxGenJS Presentation</dc:title>
  <dc:creator>lebopo</dc:creator>
  <cp:lastModifiedBy>Lucky Katlego Chinaye</cp:lastModifiedBy>
  <dcterms:created xsi:type="dcterms:W3CDTF">2026-05-23T18:40:17Z</dcterms:created>
  <dcterms:modified xsi:type="dcterms:W3CDTF">2026-05-24T17:32:16Z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c66036e7dc8b4cc89240ad024618b48a</vt:lpwstr>
  </property>
</Properties>
</file>